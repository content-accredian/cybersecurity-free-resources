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</p:sldIdLst>
  <p:sldSz cy="5143500" cx="9144000"/>
  <p:notesSz cx="5143500" cy="9144000"/>
  <p:embeddedFontLst>
    <p:embeddedFont>
      <p:font typeface="Arial Black"/>
      <p:regular r:id="rId1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6" roundtripDataSignature="AMtx7mjTznasG4ogPhDNZ+IMP2mv8RL9e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font" Target="fonts/ArialBlack-regular.fntdata"/><Relationship Id="rId14" Type="http://schemas.openxmlformats.org/officeDocument/2006/relationships/slide" Target="slides/slide10.xml"/><Relationship Id="rId16" Type="http://customschemas.google.com/relationships/presentationmetadata" Target="meta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" name="Google Shape;38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1" name="Google Shape;71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4" name="Google Shape;114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0" name="Google Shape;170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0" name="Google Shape;220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8" name="Google Shape;268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7" name="Google Shape;317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8" name="Google Shape;378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9" name="Google Shape;379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6" name="Google Shape;436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7" name="Google Shape;437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Relationship Id="rId4" Type="http://schemas.openxmlformats.org/officeDocument/2006/relationships/hyperlink" Target="https://accredian.com/" TargetMode="Externa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6.png"/><Relationship Id="rId7" Type="http://schemas.openxmlformats.org/officeDocument/2006/relationships/hyperlink" Target="https://accredian.com/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6.png"/><Relationship Id="rId9" Type="http://schemas.openxmlformats.org/officeDocument/2006/relationships/hyperlink" Target="https://accredian.com/" TargetMode="External"/><Relationship Id="rId5" Type="http://schemas.openxmlformats.org/officeDocument/2006/relationships/image" Target="../media/image4.png"/><Relationship Id="rId6" Type="http://schemas.openxmlformats.org/officeDocument/2006/relationships/image" Target="../media/image12.png"/><Relationship Id="rId7" Type="http://schemas.openxmlformats.org/officeDocument/2006/relationships/image" Target="../media/image8.png"/><Relationship Id="rId8" Type="http://schemas.openxmlformats.org/officeDocument/2006/relationships/image" Target="../media/image9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2.png"/><Relationship Id="rId4" Type="http://schemas.openxmlformats.org/officeDocument/2006/relationships/image" Target="../media/image4.png"/><Relationship Id="rId5" Type="http://schemas.openxmlformats.org/officeDocument/2006/relationships/hyperlink" Target="https://accredian.com/" TargetMode="Externa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accredian.com/" TargetMode="Externa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5.png"/><Relationship Id="rId4" Type="http://schemas.openxmlformats.org/officeDocument/2006/relationships/hyperlink" Target="https://accredian.com/" TargetMode="Externa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hyperlink" Target="https://accredian.com/" TargetMode="Externa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png"/><Relationship Id="rId4" Type="http://schemas.openxmlformats.org/officeDocument/2006/relationships/image" Target="../media/image14.png"/><Relationship Id="rId5" Type="http://schemas.openxmlformats.org/officeDocument/2006/relationships/image" Target="../media/image35.png"/><Relationship Id="rId6" Type="http://schemas.openxmlformats.org/officeDocument/2006/relationships/image" Target="../media/image9.png"/><Relationship Id="rId7" Type="http://schemas.openxmlformats.org/officeDocument/2006/relationships/hyperlink" Target="https://accredian.com/" TargetMode="Externa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hyperlink" Target="https://accredian.com/" TargetMode="Externa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s://accredian.com/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0F1A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1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1"/>
          <p:cNvSpPr/>
          <p:nvPr/>
        </p:nvSpPr>
        <p:spPr>
          <a:xfrm>
            <a:off x="9079992" y="0"/>
            <a:ext cx="64008" cy="51435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1"/>
          <p:cNvSpPr/>
          <p:nvPr/>
        </p:nvSpPr>
        <p:spPr>
          <a:xfrm>
            <a:off x="4114800" y="457200"/>
            <a:ext cx="4754880" cy="365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2E2E50"/>
              </a:buClr>
              <a:buSzPts val="20000"/>
              <a:buFont typeface="Arial Black"/>
              <a:buNone/>
            </a:pPr>
            <a:r>
              <a:rPr b="1" i="0" lang="en-US" sz="20000" u="none" cap="none" strike="noStrike">
                <a:solidFill>
                  <a:srgbClr val="2E2E50"/>
                </a:solidFill>
                <a:latin typeface="Arial Black"/>
                <a:ea typeface="Arial Black"/>
                <a:cs typeface="Arial Black"/>
                <a:sym typeface="Arial Black"/>
              </a:rPr>
              <a:t>95%</a:t>
            </a:r>
            <a:endParaRPr b="0" i="0" sz="20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274320" y="822960"/>
            <a:ext cx="731520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0"/>
              <a:buFont typeface="Arial Black"/>
              <a:buNone/>
            </a:pPr>
            <a:r>
              <a:rPr b="1" i="0" lang="en-US" sz="50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HUMAN ERROR</a:t>
            </a:r>
            <a:endParaRPr b="0" i="0" sz="5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274320" y="1828800"/>
            <a:ext cx="5029200" cy="4572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1"/>
          <p:cNvSpPr/>
          <p:nvPr/>
        </p:nvSpPr>
        <p:spPr>
          <a:xfrm>
            <a:off x="274320" y="1920240"/>
            <a:ext cx="68580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2200"/>
              <a:buFont typeface="Calibri"/>
              <a:buNone/>
            </a:pPr>
            <a:r>
              <a:rPr b="0" i="1" lang="en-US" sz="2200" u="none" cap="none" strike="noStrik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The Biggest Cybersecurity Threat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1"/>
          <p:cNvSpPr/>
          <p:nvPr/>
        </p:nvSpPr>
        <p:spPr>
          <a:xfrm>
            <a:off x="274320" y="2578608"/>
            <a:ext cx="64008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Why employees—not hackers—cause most breaches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and how leaders can fix it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4" name="Google Shape;24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15200" y="1554480"/>
            <a:ext cx="1417320" cy="1417320"/>
          </a:xfrm>
          <a:prstGeom prst="rect">
            <a:avLst/>
          </a:prstGeom>
          <a:noFill/>
          <a:ln>
            <a:noFill/>
          </a:ln>
        </p:spPr>
      </p:pic>
      <p:sp>
        <p:nvSpPr>
          <p:cNvPr id="25" name="Google Shape;25;p1"/>
          <p:cNvSpPr/>
          <p:nvPr/>
        </p:nvSpPr>
        <p:spPr>
          <a:xfrm>
            <a:off x="274320" y="3493008"/>
            <a:ext cx="1920240" cy="320040"/>
          </a:xfrm>
          <a:prstGeom prst="rect">
            <a:avLst/>
          </a:prstGeom>
          <a:solidFill>
            <a:srgbClr val="2E2E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1"/>
          <p:cNvSpPr/>
          <p:nvPr/>
        </p:nvSpPr>
        <p:spPr>
          <a:xfrm>
            <a:off x="274320" y="3493008"/>
            <a:ext cx="1920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97316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97316"/>
                </a:solidFill>
                <a:latin typeface="Calibri"/>
                <a:ea typeface="Calibri"/>
                <a:cs typeface="Calibri"/>
                <a:sym typeface="Calibri"/>
              </a:rPr>
              <a:t>People Risk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1"/>
          <p:cNvSpPr/>
          <p:nvPr/>
        </p:nvSpPr>
        <p:spPr>
          <a:xfrm>
            <a:off x="2377440" y="3493008"/>
            <a:ext cx="1920240" cy="320040"/>
          </a:xfrm>
          <a:prstGeom prst="rect">
            <a:avLst/>
          </a:prstGeom>
          <a:solidFill>
            <a:srgbClr val="2E2E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1"/>
          <p:cNvSpPr/>
          <p:nvPr/>
        </p:nvSpPr>
        <p:spPr>
          <a:xfrm>
            <a:off x="2377440" y="3493008"/>
            <a:ext cx="1920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97316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97316"/>
                </a:solidFill>
                <a:latin typeface="Calibri"/>
                <a:ea typeface="Calibri"/>
                <a:cs typeface="Calibri"/>
                <a:sym typeface="Calibri"/>
              </a:rPr>
              <a:t>Security Culture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1"/>
          <p:cNvSpPr/>
          <p:nvPr/>
        </p:nvSpPr>
        <p:spPr>
          <a:xfrm>
            <a:off x="4480560" y="3493008"/>
            <a:ext cx="1920240" cy="320040"/>
          </a:xfrm>
          <a:prstGeom prst="rect">
            <a:avLst/>
          </a:prstGeom>
          <a:solidFill>
            <a:srgbClr val="2E2E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1"/>
          <p:cNvSpPr/>
          <p:nvPr/>
        </p:nvSpPr>
        <p:spPr>
          <a:xfrm>
            <a:off x="4480560" y="3493008"/>
            <a:ext cx="1920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97316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97316"/>
                </a:solidFill>
                <a:latin typeface="Calibri"/>
                <a:ea typeface="Calibri"/>
                <a:cs typeface="Calibri"/>
                <a:sym typeface="Calibri"/>
              </a:rPr>
              <a:t>Leadership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1"/>
          <p:cNvSpPr/>
          <p:nvPr/>
        </p:nvSpPr>
        <p:spPr>
          <a:xfrm>
            <a:off x="320040" y="4041648"/>
            <a:ext cx="594360" cy="27432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1"/>
          <p:cNvSpPr/>
          <p:nvPr/>
        </p:nvSpPr>
        <p:spPr>
          <a:xfrm>
            <a:off x="320040" y="4041648"/>
            <a:ext cx="594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1"/>
          <p:cNvSpPr/>
          <p:nvPr/>
        </p:nvSpPr>
        <p:spPr>
          <a:xfrm>
            <a:off x="0" y="4873752"/>
            <a:ext cx="9144000" cy="274320"/>
          </a:xfrm>
          <a:prstGeom prst="rect">
            <a:avLst/>
          </a:prstGeom>
          <a:solidFill>
            <a:srgbClr val="1C1C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1"/>
          <p:cNvSpPr/>
          <p:nvPr/>
        </p:nvSpPr>
        <p:spPr>
          <a:xfrm>
            <a:off x="274330" y="4732150"/>
            <a:ext cx="8778300" cy="15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8C4D8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A8C4D8"/>
                </a:solidFill>
                <a:latin typeface="Calibri"/>
                <a:ea typeface="Calibri"/>
                <a:cs typeface="Calibri"/>
                <a:sym typeface="Calibri"/>
              </a:rPr>
              <a:t>Accredian is a leading Indian institution specializing in AI, Data Science, and Management research and education.</a:t>
            </a:r>
            <a:endParaRPr b="0" i="0" sz="7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1"/>
          <p:cNvSpPr/>
          <p:nvPr/>
        </p:nvSpPr>
        <p:spPr>
          <a:xfrm>
            <a:off x="274330" y="4946923"/>
            <a:ext cx="8778300" cy="15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8C4D8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A8C4D8"/>
                </a:solidFill>
                <a:latin typeface="Calibri"/>
                <a:ea typeface="Calibri"/>
                <a:cs typeface="Calibri"/>
                <a:sym typeface="Calibri"/>
              </a:rPr>
              <a:t>Visit us at: </a:t>
            </a:r>
            <a:r>
              <a:rPr b="1" i="0" lang="en-US" sz="750" u="sng" cap="none" strike="noStrike">
                <a:solidFill>
                  <a:srgbClr val="0563C1"/>
                </a:solidFill>
                <a:latin typeface="Calibri"/>
                <a:ea typeface="Calibri"/>
                <a:cs typeface="Calibri"/>
                <a:sym typeface="Calibri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https://accredian.com</a:t>
            </a:r>
            <a:endParaRPr b="0" i="0" sz="7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0F1A"/>
        </a:solidFill>
      </p:bgPr>
    </p:bg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C1C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2"/>
          <p:cNvSpPr/>
          <p:nvPr/>
        </p:nvSpPr>
        <p:spPr>
          <a:xfrm>
            <a:off x="0" y="0"/>
            <a:ext cx="64008" cy="804672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2"/>
          <p:cNvSpPr/>
          <p:nvPr/>
        </p:nvSpPr>
        <p:spPr>
          <a:xfrm>
            <a:off x="128016" y="0"/>
            <a:ext cx="502920" cy="8046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2"/>
          <p:cNvSpPr/>
          <p:nvPr/>
        </p:nvSpPr>
        <p:spPr>
          <a:xfrm>
            <a:off x="713232" y="0"/>
            <a:ext cx="5943600" cy="8046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Arial Black"/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The Shocking Numbers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2"/>
          <p:cNvSpPr/>
          <p:nvPr/>
        </p:nvSpPr>
        <p:spPr>
          <a:xfrm>
            <a:off x="713232" y="0"/>
            <a:ext cx="8321040" cy="8046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Data that every leader needs to see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2"/>
          <p:cNvSpPr/>
          <p:nvPr/>
        </p:nvSpPr>
        <p:spPr>
          <a:xfrm>
            <a:off x="0" y="4873752"/>
            <a:ext cx="9144000" cy="274320"/>
          </a:xfrm>
          <a:prstGeom prst="rect">
            <a:avLst/>
          </a:prstGeom>
          <a:solidFill>
            <a:srgbClr val="1C1C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2"/>
          <p:cNvSpPr/>
          <p:nvPr/>
        </p:nvSpPr>
        <p:spPr>
          <a:xfrm>
            <a:off x="274320" y="960120"/>
            <a:ext cx="4160520" cy="1783080"/>
          </a:xfrm>
          <a:prstGeom prst="rect">
            <a:avLst/>
          </a:prstGeom>
          <a:solidFill>
            <a:srgbClr val="1C1C32"/>
          </a:solidFill>
          <a:ln cap="flat" cmpd="sng" w="12700">
            <a:solidFill>
              <a:srgbClr val="2E2E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2"/>
          <p:cNvSpPr/>
          <p:nvPr/>
        </p:nvSpPr>
        <p:spPr>
          <a:xfrm>
            <a:off x="274320" y="960120"/>
            <a:ext cx="4160520" cy="54864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9" name="Google Shape;49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109728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2"/>
          <p:cNvSpPr/>
          <p:nvPr/>
        </p:nvSpPr>
        <p:spPr>
          <a:xfrm>
            <a:off x="1051560" y="1051560"/>
            <a:ext cx="32004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4000"/>
              <a:buFont typeface="Arial Black"/>
              <a:buNone/>
            </a:pPr>
            <a:r>
              <a:rPr b="1" i="0" lang="en-US" sz="4000" u="none" cap="none" strike="noStrike">
                <a:solidFill>
                  <a:srgbClr val="EF4444"/>
                </a:solidFill>
                <a:latin typeface="Arial Black"/>
                <a:ea typeface="Arial Black"/>
                <a:cs typeface="Arial Black"/>
                <a:sym typeface="Arial Black"/>
              </a:rPr>
              <a:t>95%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2"/>
          <p:cNvSpPr/>
          <p:nvPr/>
        </p:nvSpPr>
        <p:spPr>
          <a:xfrm>
            <a:off x="457200" y="1947672"/>
            <a:ext cx="37490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of breaches involve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human error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2"/>
          <p:cNvSpPr/>
          <p:nvPr/>
        </p:nvSpPr>
        <p:spPr>
          <a:xfrm>
            <a:off x="4709160" y="960120"/>
            <a:ext cx="4160520" cy="1783080"/>
          </a:xfrm>
          <a:prstGeom prst="rect">
            <a:avLst/>
          </a:prstGeom>
          <a:solidFill>
            <a:srgbClr val="1C1C32"/>
          </a:solidFill>
          <a:ln cap="flat" cmpd="sng" w="12700">
            <a:solidFill>
              <a:srgbClr val="2E2E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2"/>
          <p:cNvSpPr/>
          <p:nvPr/>
        </p:nvSpPr>
        <p:spPr>
          <a:xfrm>
            <a:off x="4709160" y="960120"/>
            <a:ext cx="4160520" cy="54864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4" name="Google Shape;54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92040" y="109728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2"/>
          <p:cNvSpPr/>
          <p:nvPr/>
        </p:nvSpPr>
        <p:spPr>
          <a:xfrm>
            <a:off x="5486400" y="1051560"/>
            <a:ext cx="32004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97316"/>
              </a:buClr>
              <a:buSzPts val="4000"/>
              <a:buFont typeface="Arial Black"/>
              <a:buNone/>
            </a:pPr>
            <a:r>
              <a:rPr b="1" i="0" lang="en-US" sz="4000" u="none" cap="none" strike="noStrike">
                <a:solidFill>
                  <a:srgbClr val="F97316"/>
                </a:solidFill>
                <a:latin typeface="Arial Black"/>
                <a:ea typeface="Arial Black"/>
                <a:cs typeface="Arial Black"/>
                <a:sym typeface="Arial Black"/>
              </a:rPr>
              <a:t>$4.45M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2"/>
          <p:cNvSpPr/>
          <p:nvPr/>
        </p:nvSpPr>
        <p:spPr>
          <a:xfrm>
            <a:off x="4892040" y="1947672"/>
            <a:ext cx="37490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average cost of a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human-caused breach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2"/>
          <p:cNvSpPr/>
          <p:nvPr/>
        </p:nvSpPr>
        <p:spPr>
          <a:xfrm>
            <a:off x="274320" y="2926080"/>
            <a:ext cx="4160520" cy="1783080"/>
          </a:xfrm>
          <a:prstGeom prst="rect">
            <a:avLst/>
          </a:prstGeom>
          <a:solidFill>
            <a:srgbClr val="1C1C32"/>
          </a:solidFill>
          <a:ln cap="flat" cmpd="sng" w="12700">
            <a:solidFill>
              <a:srgbClr val="2E2E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2"/>
          <p:cNvSpPr/>
          <p:nvPr/>
        </p:nvSpPr>
        <p:spPr>
          <a:xfrm>
            <a:off x="274320" y="2926080"/>
            <a:ext cx="416052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9" name="Google Shape;59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57200" y="306324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2"/>
          <p:cNvSpPr/>
          <p:nvPr/>
        </p:nvSpPr>
        <p:spPr>
          <a:xfrm>
            <a:off x="1051560" y="3017520"/>
            <a:ext cx="32004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4000"/>
              <a:buFont typeface="Arial Black"/>
              <a:buNone/>
            </a:pPr>
            <a:r>
              <a:rPr b="1" i="0" lang="en-US" sz="4000" u="none" cap="none" strike="noStrike">
                <a:solidFill>
                  <a:srgbClr val="F59E0B"/>
                </a:solidFill>
                <a:latin typeface="Arial Black"/>
                <a:ea typeface="Arial Black"/>
                <a:cs typeface="Arial Black"/>
                <a:sym typeface="Arial Black"/>
              </a:rPr>
              <a:t>82%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2"/>
          <p:cNvSpPr/>
          <p:nvPr/>
        </p:nvSpPr>
        <p:spPr>
          <a:xfrm>
            <a:off x="457200" y="3913632"/>
            <a:ext cx="37490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of phishing attacks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succeed via employees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2"/>
          <p:cNvSpPr/>
          <p:nvPr/>
        </p:nvSpPr>
        <p:spPr>
          <a:xfrm>
            <a:off x="4709160" y="2926080"/>
            <a:ext cx="4160520" cy="1783080"/>
          </a:xfrm>
          <a:prstGeom prst="rect">
            <a:avLst/>
          </a:prstGeom>
          <a:solidFill>
            <a:srgbClr val="1C1C32"/>
          </a:solidFill>
          <a:ln cap="flat" cmpd="sng" w="12700">
            <a:solidFill>
              <a:srgbClr val="2E2E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2"/>
          <p:cNvSpPr/>
          <p:nvPr/>
        </p:nvSpPr>
        <p:spPr>
          <a:xfrm>
            <a:off x="4709160" y="2926080"/>
            <a:ext cx="4160520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4" name="Google Shape;64;p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892040" y="306324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2"/>
          <p:cNvSpPr/>
          <p:nvPr/>
        </p:nvSpPr>
        <p:spPr>
          <a:xfrm>
            <a:off x="5486400" y="3017520"/>
            <a:ext cx="32004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4000"/>
              <a:buFont typeface="Arial Black"/>
              <a:buNone/>
            </a:pPr>
            <a:r>
              <a:rPr b="1" i="0" lang="en-US" sz="4000" u="none" cap="none" strike="noStrike">
                <a:solidFill>
                  <a:srgbClr val="38BDF8"/>
                </a:solidFill>
                <a:latin typeface="Arial Black"/>
                <a:ea typeface="Arial Black"/>
                <a:cs typeface="Arial Black"/>
                <a:sym typeface="Arial Black"/>
              </a:rPr>
              <a:t>74%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2"/>
          <p:cNvSpPr/>
          <p:nvPr/>
        </p:nvSpPr>
        <p:spPr>
          <a:xfrm>
            <a:off x="4892040" y="3913632"/>
            <a:ext cx="37490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of breaches involve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privileged access misuse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2"/>
          <p:cNvSpPr/>
          <p:nvPr/>
        </p:nvSpPr>
        <p:spPr>
          <a:xfrm>
            <a:off x="274330" y="4732150"/>
            <a:ext cx="8778300" cy="15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8C4D8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A8C4D8"/>
                </a:solidFill>
                <a:latin typeface="Calibri"/>
                <a:ea typeface="Calibri"/>
                <a:cs typeface="Calibri"/>
                <a:sym typeface="Calibri"/>
              </a:rPr>
              <a:t>Accredian is a leading Indian institution specializing in AI, Data Science, and Management research and education.</a:t>
            </a:r>
            <a:endParaRPr b="0" i="0" sz="7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2"/>
          <p:cNvSpPr/>
          <p:nvPr/>
        </p:nvSpPr>
        <p:spPr>
          <a:xfrm>
            <a:off x="274330" y="4946923"/>
            <a:ext cx="8778300" cy="15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8C4D8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A8C4D8"/>
                </a:solidFill>
                <a:latin typeface="Calibri"/>
                <a:ea typeface="Calibri"/>
                <a:cs typeface="Calibri"/>
                <a:sym typeface="Calibri"/>
              </a:rPr>
              <a:t>Visit us at: </a:t>
            </a:r>
            <a:r>
              <a:rPr b="1" i="0" lang="en-US" sz="750" u="sng" cap="none" strike="noStrike">
                <a:solidFill>
                  <a:srgbClr val="0563C1"/>
                </a:solidFill>
                <a:latin typeface="Calibri"/>
                <a:ea typeface="Calibri"/>
                <a:cs typeface="Calibri"/>
                <a:sym typeface="Calibri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https://accredian.com</a:t>
            </a:r>
            <a:endParaRPr b="0" i="0" sz="7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0F1A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3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C1C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3"/>
          <p:cNvSpPr/>
          <p:nvPr/>
        </p:nvSpPr>
        <p:spPr>
          <a:xfrm>
            <a:off x="0" y="0"/>
            <a:ext cx="64008" cy="80467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3"/>
          <p:cNvSpPr/>
          <p:nvPr/>
        </p:nvSpPr>
        <p:spPr>
          <a:xfrm>
            <a:off x="128016" y="0"/>
            <a:ext cx="502920" cy="8046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3"/>
          <p:cNvSpPr/>
          <p:nvPr/>
        </p:nvSpPr>
        <p:spPr>
          <a:xfrm>
            <a:off x="713232" y="0"/>
            <a:ext cx="5943600" cy="8046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Arial Black"/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The Human Attack Surface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3"/>
          <p:cNvSpPr/>
          <p:nvPr/>
        </p:nvSpPr>
        <p:spPr>
          <a:xfrm>
            <a:off x="713232" y="0"/>
            <a:ext cx="8321040" cy="8046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Six ways employees become the vulnerability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3"/>
          <p:cNvSpPr/>
          <p:nvPr/>
        </p:nvSpPr>
        <p:spPr>
          <a:xfrm>
            <a:off x="0" y="4873752"/>
            <a:ext cx="9144000" cy="274320"/>
          </a:xfrm>
          <a:prstGeom prst="rect">
            <a:avLst/>
          </a:prstGeom>
          <a:solidFill>
            <a:srgbClr val="1C1C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3"/>
          <p:cNvSpPr/>
          <p:nvPr/>
        </p:nvSpPr>
        <p:spPr>
          <a:xfrm>
            <a:off x="228600" y="932688"/>
            <a:ext cx="4206240" cy="1216152"/>
          </a:xfrm>
          <a:prstGeom prst="rect">
            <a:avLst/>
          </a:prstGeom>
          <a:solidFill>
            <a:srgbClr val="1C1C32"/>
          </a:solidFill>
          <a:ln cap="flat" cmpd="sng" w="12700">
            <a:solidFill>
              <a:srgbClr val="2E2E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3"/>
          <p:cNvSpPr/>
          <p:nvPr/>
        </p:nvSpPr>
        <p:spPr>
          <a:xfrm>
            <a:off x="228600" y="932688"/>
            <a:ext cx="502920" cy="1216152"/>
          </a:xfrm>
          <a:prstGeom prst="rect">
            <a:avLst/>
          </a:prstGeom>
          <a:solidFill>
            <a:srgbClr val="EF4444">
              <a:alpha val="7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82" name="Google Shape;82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1752" y="1307592"/>
            <a:ext cx="347472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3"/>
          <p:cNvSpPr/>
          <p:nvPr/>
        </p:nvSpPr>
        <p:spPr>
          <a:xfrm>
            <a:off x="822960" y="996696"/>
            <a:ext cx="35204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 Black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Phishing &amp; Spear-Phishing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3"/>
          <p:cNvSpPr/>
          <p:nvPr/>
        </p:nvSpPr>
        <p:spPr>
          <a:xfrm>
            <a:off x="822960" y="1344168"/>
            <a:ext cx="35204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Deceptive emails trick employees into clicking malicious links or surrendering credentials. 36% of all breaches start here.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3"/>
          <p:cNvSpPr/>
          <p:nvPr/>
        </p:nvSpPr>
        <p:spPr>
          <a:xfrm>
            <a:off x="4690872" y="932688"/>
            <a:ext cx="4206240" cy="1216152"/>
          </a:xfrm>
          <a:prstGeom prst="rect">
            <a:avLst/>
          </a:prstGeom>
          <a:solidFill>
            <a:srgbClr val="1C1C32"/>
          </a:solidFill>
          <a:ln cap="flat" cmpd="sng" w="12700">
            <a:solidFill>
              <a:srgbClr val="2E2E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3"/>
          <p:cNvSpPr/>
          <p:nvPr/>
        </p:nvSpPr>
        <p:spPr>
          <a:xfrm>
            <a:off x="4690872" y="932688"/>
            <a:ext cx="502920" cy="1216152"/>
          </a:xfrm>
          <a:prstGeom prst="rect">
            <a:avLst/>
          </a:prstGeom>
          <a:solidFill>
            <a:srgbClr val="F59E0B">
              <a:alpha val="7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87" name="Google Shape;87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64024" y="1307592"/>
            <a:ext cx="347472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3"/>
          <p:cNvSpPr/>
          <p:nvPr/>
        </p:nvSpPr>
        <p:spPr>
          <a:xfrm>
            <a:off x="5285232" y="996696"/>
            <a:ext cx="35204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 Black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Weak &amp; Reused Passwords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3"/>
          <p:cNvSpPr/>
          <p:nvPr/>
        </p:nvSpPr>
        <p:spPr>
          <a:xfrm>
            <a:off x="5285232" y="1344168"/>
            <a:ext cx="35204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Over 80% of hacking-related breaches exploit stolen or weak credentials. Password123 is still in the top 10 globally.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3"/>
          <p:cNvSpPr/>
          <p:nvPr/>
        </p:nvSpPr>
        <p:spPr>
          <a:xfrm>
            <a:off x="228600" y="2276856"/>
            <a:ext cx="4206240" cy="1216152"/>
          </a:xfrm>
          <a:prstGeom prst="rect">
            <a:avLst/>
          </a:prstGeom>
          <a:solidFill>
            <a:srgbClr val="1C1C32"/>
          </a:solidFill>
          <a:ln cap="flat" cmpd="sng" w="12700">
            <a:solidFill>
              <a:srgbClr val="2E2E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3"/>
          <p:cNvSpPr/>
          <p:nvPr/>
        </p:nvSpPr>
        <p:spPr>
          <a:xfrm>
            <a:off x="228600" y="2276856"/>
            <a:ext cx="502920" cy="1216152"/>
          </a:xfrm>
          <a:prstGeom prst="rect">
            <a:avLst/>
          </a:prstGeom>
          <a:solidFill>
            <a:srgbClr val="F97316">
              <a:alpha val="7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92" name="Google Shape;92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01752" y="2651760"/>
            <a:ext cx="347472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3"/>
          <p:cNvSpPr/>
          <p:nvPr/>
        </p:nvSpPr>
        <p:spPr>
          <a:xfrm>
            <a:off x="822960" y="2340864"/>
            <a:ext cx="35204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 Black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Shadow IT &amp; Unmanaged Devices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3"/>
          <p:cNvSpPr/>
          <p:nvPr/>
        </p:nvSpPr>
        <p:spPr>
          <a:xfrm>
            <a:off x="822960" y="2688336"/>
            <a:ext cx="35204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Employees use unauthorized apps, personal devices, and cloud storage — creating invisible attack vectors IT can't monitor.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3"/>
          <p:cNvSpPr/>
          <p:nvPr/>
        </p:nvSpPr>
        <p:spPr>
          <a:xfrm>
            <a:off x="4690872" y="2276856"/>
            <a:ext cx="4206240" cy="1216152"/>
          </a:xfrm>
          <a:prstGeom prst="rect">
            <a:avLst/>
          </a:prstGeom>
          <a:solidFill>
            <a:srgbClr val="1C1C32"/>
          </a:solidFill>
          <a:ln cap="flat" cmpd="sng" w="12700">
            <a:solidFill>
              <a:srgbClr val="2E2E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3"/>
          <p:cNvSpPr/>
          <p:nvPr/>
        </p:nvSpPr>
        <p:spPr>
          <a:xfrm>
            <a:off x="4690872" y="2276856"/>
            <a:ext cx="502920" cy="1216152"/>
          </a:xfrm>
          <a:prstGeom prst="rect">
            <a:avLst/>
          </a:prstGeom>
          <a:solidFill>
            <a:srgbClr val="A78BFA">
              <a:alpha val="7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97" name="Google Shape;97;p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764024" y="2651760"/>
            <a:ext cx="347472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3"/>
          <p:cNvSpPr/>
          <p:nvPr/>
        </p:nvSpPr>
        <p:spPr>
          <a:xfrm>
            <a:off x="5285232" y="2340864"/>
            <a:ext cx="35204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 Black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Insider Threats (Negligent)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3"/>
          <p:cNvSpPr/>
          <p:nvPr/>
        </p:nvSpPr>
        <p:spPr>
          <a:xfrm>
            <a:off x="5285232" y="2688336"/>
            <a:ext cx="35204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Well-meaning employees misconfigure systems, email the wrong person, or leave sensitive data in unprotected folders.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3"/>
          <p:cNvSpPr/>
          <p:nvPr/>
        </p:nvSpPr>
        <p:spPr>
          <a:xfrm>
            <a:off x="228600" y="3621024"/>
            <a:ext cx="4206240" cy="1216152"/>
          </a:xfrm>
          <a:prstGeom prst="rect">
            <a:avLst/>
          </a:prstGeom>
          <a:solidFill>
            <a:srgbClr val="1C1C32"/>
          </a:solidFill>
          <a:ln cap="flat" cmpd="sng" w="12700">
            <a:solidFill>
              <a:srgbClr val="2E2E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3"/>
          <p:cNvSpPr/>
          <p:nvPr/>
        </p:nvSpPr>
        <p:spPr>
          <a:xfrm>
            <a:off x="228600" y="3621024"/>
            <a:ext cx="502920" cy="1216152"/>
          </a:xfrm>
          <a:prstGeom prst="rect">
            <a:avLst/>
          </a:prstGeom>
          <a:solidFill>
            <a:srgbClr val="38BDF8">
              <a:alpha val="7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02" name="Google Shape;102;p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01752" y="3995928"/>
            <a:ext cx="347472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3"/>
          <p:cNvSpPr/>
          <p:nvPr/>
        </p:nvSpPr>
        <p:spPr>
          <a:xfrm>
            <a:off x="822960" y="3685032"/>
            <a:ext cx="35204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 Black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Social Engineering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3"/>
          <p:cNvSpPr/>
          <p:nvPr/>
        </p:nvSpPr>
        <p:spPr>
          <a:xfrm>
            <a:off x="822960" y="4032504"/>
            <a:ext cx="35204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Vishing (voice phishing), pretexting, and impersonation of executives fool employees into bypassing security controls.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3"/>
          <p:cNvSpPr/>
          <p:nvPr/>
        </p:nvSpPr>
        <p:spPr>
          <a:xfrm>
            <a:off x="4690872" y="3621024"/>
            <a:ext cx="4206240" cy="1216152"/>
          </a:xfrm>
          <a:prstGeom prst="rect">
            <a:avLst/>
          </a:prstGeom>
          <a:solidFill>
            <a:srgbClr val="1C1C32"/>
          </a:solidFill>
          <a:ln cap="flat" cmpd="sng" w="12700">
            <a:solidFill>
              <a:srgbClr val="2E2E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3"/>
          <p:cNvSpPr/>
          <p:nvPr/>
        </p:nvSpPr>
        <p:spPr>
          <a:xfrm>
            <a:off x="4690872" y="3621024"/>
            <a:ext cx="502920" cy="1216152"/>
          </a:xfrm>
          <a:prstGeom prst="rect">
            <a:avLst/>
          </a:prstGeom>
          <a:solidFill>
            <a:srgbClr val="22C55E">
              <a:alpha val="7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07" name="Google Shape;107;p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764024" y="3995928"/>
            <a:ext cx="347472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3"/>
          <p:cNvSpPr/>
          <p:nvPr/>
        </p:nvSpPr>
        <p:spPr>
          <a:xfrm>
            <a:off x="5285232" y="3685032"/>
            <a:ext cx="35204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 Black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Unpatched Systems &amp; Delays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3"/>
          <p:cNvSpPr/>
          <p:nvPr/>
        </p:nvSpPr>
        <p:spPr>
          <a:xfrm>
            <a:off x="5285232" y="4032504"/>
            <a:ext cx="35204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Employees ignore or delay security updates. 60% of breaches exploit vulnerabilities where a patch was available.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3"/>
          <p:cNvSpPr/>
          <p:nvPr/>
        </p:nvSpPr>
        <p:spPr>
          <a:xfrm>
            <a:off x="274330" y="4787025"/>
            <a:ext cx="8778300" cy="15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8C4D8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A8C4D8"/>
                </a:solidFill>
                <a:latin typeface="Calibri"/>
                <a:ea typeface="Calibri"/>
                <a:cs typeface="Calibri"/>
                <a:sym typeface="Calibri"/>
              </a:rPr>
              <a:t>Accredian is a leading Indian institution specializing in AI, Data Science, and Management research and education.</a:t>
            </a:r>
            <a:endParaRPr b="0" i="0" sz="7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3"/>
          <p:cNvSpPr/>
          <p:nvPr/>
        </p:nvSpPr>
        <p:spPr>
          <a:xfrm>
            <a:off x="274330" y="4946923"/>
            <a:ext cx="8778300" cy="15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8C4D8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A8C4D8"/>
                </a:solidFill>
                <a:latin typeface="Calibri"/>
                <a:ea typeface="Calibri"/>
                <a:cs typeface="Calibri"/>
                <a:sym typeface="Calibri"/>
              </a:rPr>
              <a:t>Visit us at: </a:t>
            </a:r>
            <a:r>
              <a:rPr b="1" i="0" lang="en-US" sz="750" u="sng" cap="none" strike="noStrike">
                <a:solidFill>
                  <a:srgbClr val="0563C1"/>
                </a:solidFill>
                <a:latin typeface="Calibri"/>
                <a:ea typeface="Calibri"/>
                <a:cs typeface="Calibri"/>
                <a:sym typeface="Calibri"/>
                <a:hlinkClick r:id="rId9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https://accredian.com</a:t>
            </a:r>
            <a:endParaRPr b="0" i="0" sz="7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0F1A"/>
        </a:solidFill>
      </p:bgPr>
    </p:bg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4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C1C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4"/>
          <p:cNvSpPr/>
          <p:nvPr/>
        </p:nvSpPr>
        <p:spPr>
          <a:xfrm>
            <a:off x="0" y="0"/>
            <a:ext cx="64008" cy="804672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4"/>
          <p:cNvSpPr/>
          <p:nvPr/>
        </p:nvSpPr>
        <p:spPr>
          <a:xfrm>
            <a:off x="128016" y="0"/>
            <a:ext cx="502920" cy="8046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78BF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A78BFA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4"/>
          <p:cNvSpPr/>
          <p:nvPr/>
        </p:nvSpPr>
        <p:spPr>
          <a:xfrm>
            <a:off x="713232" y="0"/>
            <a:ext cx="5943600" cy="8046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Arial Black"/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The Psychology of Mistakes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4"/>
          <p:cNvSpPr/>
          <p:nvPr/>
        </p:nvSpPr>
        <p:spPr>
          <a:xfrm>
            <a:off x="713232" y="0"/>
            <a:ext cx="8321040" cy="8046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Why smart people make dangerous decisions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4"/>
          <p:cNvSpPr/>
          <p:nvPr/>
        </p:nvSpPr>
        <p:spPr>
          <a:xfrm>
            <a:off x="0" y="4873752"/>
            <a:ext cx="9144000" cy="274320"/>
          </a:xfrm>
          <a:prstGeom prst="rect">
            <a:avLst/>
          </a:prstGeom>
          <a:solidFill>
            <a:srgbClr val="1C1C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4"/>
          <p:cNvSpPr/>
          <p:nvPr/>
        </p:nvSpPr>
        <p:spPr>
          <a:xfrm>
            <a:off x="228600" y="914400"/>
            <a:ext cx="4251960" cy="3977640"/>
          </a:xfrm>
          <a:prstGeom prst="rect">
            <a:avLst/>
          </a:prstGeom>
          <a:solidFill>
            <a:srgbClr val="1C1C32"/>
          </a:solidFill>
          <a:ln cap="flat" cmpd="sng" w="12700">
            <a:solidFill>
              <a:srgbClr val="2E2E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4"/>
          <p:cNvSpPr/>
          <p:nvPr/>
        </p:nvSpPr>
        <p:spPr>
          <a:xfrm>
            <a:off x="228600" y="914400"/>
            <a:ext cx="4251960" cy="54864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25" name="Google Shape;125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1480" y="1005840"/>
            <a:ext cx="384048" cy="384048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4"/>
          <p:cNvSpPr/>
          <p:nvPr/>
        </p:nvSpPr>
        <p:spPr>
          <a:xfrm>
            <a:off x="877824" y="1005840"/>
            <a:ext cx="34747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78BF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A78BFA"/>
                </a:solidFill>
                <a:latin typeface="Calibri"/>
                <a:ea typeface="Calibri"/>
                <a:cs typeface="Calibri"/>
                <a:sym typeface="Calibri"/>
              </a:rPr>
              <a:t>COGNITIVE BIASES AT PLAY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4"/>
          <p:cNvSpPr/>
          <p:nvPr/>
        </p:nvSpPr>
        <p:spPr>
          <a:xfrm>
            <a:off x="365760" y="1463040"/>
            <a:ext cx="54864" cy="45720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4"/>
          <p:cNvSpPr/>
          <p:nvPr/>
        </p:nvSpPr>
        <p:spPr>
          <a:xfrm>
            <a:off x="512064" y="1481328"/>
            <a:ext cx="38404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Authority Bias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4"/>
          <p:cNvSpPr/>
          <p:nvPr/>
        </p:nvSpPr>
        <p:spPr>
          <a:xfrm>
            <a:off x="512064" y="1709928"/>
            <a:ext cx="38404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"The CEO emailed me — I must comply immediately." Attackers impersonate leaders to bypass critical thinking.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4"/>
          <p:cNvSpPr/>
          <p:nvPr/>
        </p:nvSpPr>
        <p:spPr>
          <a:xfrm>
            <a:off x="365760" y="2130552"/>
            <a:ext cx="54864" cy="45720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4"/>
          <p:cNvSpPr/>
          <p:nvPr/>
        </p:nvSpPr>
        <p:spPr>
          <a:xfrm>
            <a:off x="512064" y="2148840"/>
            <a:ext cx="38404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Urgency Effect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4"/>
          <p:cNvSpPr/>
          <p:nvPr/>
        </p:nvSpPr>
        <p:spPr>
          <a:xfrm>
            <a:off x="512064" y="2377440"/>
            <a:ext cx="38404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"Act NOW or your account is locked." Time pressure disables the brain's analytical system.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4"/>
          <p:cNvSpPr/>
          <p:nvPr/>
        </p:nvSpPr>
        <p:spPr>
          <a:xfrm>
            <a:off x="365760" y="2798064"/>
            <a:ext cx="54864" cy="45720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4"/>
          <p:cNvSpPr/>
          <p:nvPr/>
        </p:nvSpPr>
        <p:spPr>
          <a:xfrm>
            <a:off x="512064" y="2816352"/>
            <a:ext cx="38404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Optimism Bias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4"/>
          <p:cNvSpPr/>
          <p:nvPr/>
        </p:nvSpPr>
        <p:spPr>
          <a:xfrm>
            <a:off x="512064" y="3044952"/>
            <a:ext cx="38404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"It won't happen to me." 85% of employees believe they're less likely to be compromised than colleagues.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4"/>
          <p:cNvSpPr/>
          <p:nvPr/>
        </p:nvSpPr>
        <p:spPr>
          <a:xfrm>
            <a:off x="365760" y="3465576"/>
            <a:ext cx="54864" cy="45720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4"/>
          <p:cNvSpPr/>
          <p:nvPr/>
        </p:nvSpPr>
        <p:spPr>
          <a:xfrm>
            <a:off x="512064" y="3483864"/>
            <a:ext cx="38404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Familiarity Heuristic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4"/>
          <p:cNvSpPr/>
          <p:nvPr/>
        </p:nvSpPr>
        <p:spPr>
          <a:xfrm>
            <a:off x="512064" y="3712464"/>
            <a:ext cx="38404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Slightly off logos, domains, or sender names go unnoticed because the brain fills in familiar patterns.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4"/>
          <p:cNvSpPr/>
          <p:nvPr/>
        </p:nvSpPr>
        <p:spPr>
          <a:xfrm>
            <a:off x="365760" y="4133088"/>
            <a:ext cx="54864" cy="45720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4"/>
          <p:cNvSpPr/>
          <p:nvPr/>
        </p:nvSpPr>
        <p:spPr>
          <a:xfrm>
            <a:off x="512064" y="4151376"/>
            <a:ext cx="38404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Fatigue &amp; Overload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4"/>
          <p:cNvSpPr/>
          <p:nvPr/>
        </p:nvSpPr>
        <p:spPr>
          <a:xfrm>
            <a:off x="512064" y="4379976"/>
            <a:ext cx="38404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Security alert fatigue causes employees to dismiss 44% of warnings as "false positives" without investigation.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4"/>
          <p:cNvSpPr/>
          <p:nvPr/>
        </p:nvSpPr>
        <p:spPr>
          <a:xfrm>
            <a:off x="4709160" y="914400"/>
            <a:ext cx="4206240" cy="3977640"/>
          </a:xfrm>
          <a:prstGeom prst="rect">
            <a:avLst/>
          </a:prstGeom>
          <a:solidFill>
            <a:srgbClr val="1C1C32"/>
          </a:solidFill>
          <a:ln cap="flat" cmpd="sng" w="12700">
            <a:solidFill>
              <a:srgbClr val="2E2E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4"/>
          <p:cNvSpPr/>
          <p:nvPr/>
        </p:nvSpPr>
        <p:spPr>
          <a:xfrm>
            <a:off x="4709160" y="914400"/>
            <a:ext cx="420624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44" name="Google Shape;144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92040" y="1005840"/>
            <a:ext cx="384048" cy="38404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4"/>
          <p:cNvSpPr/>
          <p:nvPr/>
        </p:nvSpPr>
        <p:spPr>
          <a:xfrm>
            <a:off x="5358384" y="1005840"/>
            <a:ext cx="33832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REAL ATTACK SCENARIOS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4"/>
          <p:cNvSpPr/>
          <p:nvPr/>
        </p:nvSpPr>
        <p:spPr>
          <a:xfrm>
            <a:off x="4846320" y="1463040"/>
            <a:ext cx="3931920" cy="685800"/>
          </a:xfrm>
          <a:prstGeom prst="rect">
            <a:avLst/>
          </a:prstGeom>
          <a:solidFill>
            <a:srgbClr val="0F0F1A"/>
          </a:solidFill>
          <a:ln cap="flat" cmpd="sng" w="12700">
            <a:solidFill>
              <a:srgbClr val="2E2E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4"/>
          <p:cNvSpPr/>
          <p:nvPr/>
        </p:nvSpPr>
        <p:spPr>
          <a:xfrm>
            <a:off x="7223760" y="1536192"/>
            <a:ext cx="1417320" cy="256032"/>
          </a:xfrm>
          <a:prstGeom prst="rect">
            <a:avLst/>
          </a:prstGeom>
          <a:solidFill>
            <a:srgbClr val="EF4444">
              <a:alpha val="7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4"/>
          <p:cNvSpPr/>
          <p:nvPr/>
        </p:nvSpPr>
        <p:spPr>
          <a:xfrm>
            <a:off x="7223760" y="1536192"/>
            <a:ext cx="14173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$2.3M loss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4"/>
          <p:cNvSpPr/>
          <p:nvPr/>
        </p:nvSpPr>
        <p:spPr>
          <a:xfrm>
            <a:off x="4983480" y="1508760"/>
            <a:ext cx="21488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BEC Attack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4"/>
          <p:cNvSpPr/>
          <p:nvPr/>
        </p:nvSpPr>
        <p:spPr>
          <a:xfrm>
            <a:off x="4983480" y="1764792"/>
            <a:ext cx="37490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Finance manager receives "CEO" email to wire $2.3M urgently. No callback verification. Wire sent.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4"/>
          <p:cNvSpPr/>
          <p:nvPr/>
        </p:nvSpPr>
        <p:spPr>
          <a:xfrm>
            <a:off x="4846320" y="2267712"/>
            <a:ext cx="3931920" cy="685800"/>
          </a:xfrm>
          <a:prstGeom prst="rect">
            <a:avLst/>
          </a:prstGeom>
          <a:solidFill>
            <a:srgbClr val="0F0F1A"/>
          </a:solidFill>
          <a:ln cap="flat" cmpd="sng" w="12700">
            <a:solidFill>
              <a:srgbClr val="2E2E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4"/>
          <p:cNvSpPr/>
          <p:nvPr/>
        </p:nvSpPr>
        <p:spPr>
          <a:xfrm>
            <a:off x="7223760" y="2340864"/>
            <a:ext cx="1417320" cy="256032"/>
          </a:xfrm>
          <a:prstGeom prst="rect">
            <a:avLst/>
          </a:prstGeom>
          <a:solidFill>
            <a:srgbClr val="F59E0B">
              <a:alpha val="7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4"/>
          <p:cNvSpPr/>
          <p:nvPr/>
        </p:nvSpPr>
        <p:spPr>
          <a:xfrm>
            <a:off x="7223760" y="2340864"/>
            <a:ext cx="14173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Full domain compromise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4"/>
          <p:cNvSpPr/>
          <p:nvPr/>
        </p:nvSpPr>
        <p:spPr>
          <a:xfrm>
            <a:off x="4983480" y="2313432"/>
            <a:ext cx="21488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Credential Phish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4"/>
          <p:cNvSpPr/>
          <p:nvPr/>
        </p:nvSpPr>
        <p:spPr>
          <a:xfrm>
            <a:off x="4983480" y="2569464"/>
            <a:ext cx="37490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IT helpdesk employee enters O365 credentials on a spoofed Microsoft login page after a convincing voicemail.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4"/>
          <p:cNvSpPr/>
          <p:nvPr/>
        </p:nvSpPr>
        <p:spPr>
          <a:xfrm>
            <a:off x="4846320" y="3072384"/>
            <a:ext cx="3931920" cy="685800"/>
          </a:xfrm>
          <a:prstGeom prst="rect">
            <a:avLst/>
          </a:prstGeom>
          <a:solidFill>
            <a:srgbClr val="0F0F1A"/>
          </a:solidFill>
          <a:ln cap="flat" cmpd="sng" w="12700">
            <a:solidFill>
              <a:srgbClr val="2E2E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4"/>
          <p:cNvSpPr/>
          <p:nvPr/>
        </p:nvSpPr>
        <p:spPr>
          <a:xfrm>
            <a:off x="7223760" y="3145536"/>
            <a:ext cx="1417320" cy="256032"/>
          </a:xfrm>
          <a:prstGeom prst="rect">
            <a:avLst/>
          </a:prstGeom>
          <a:solidFill>
            <a:srgbClr val="F97316">
              <a:alpha val="7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4"/>
          <p:cNvSpPr/>
          <p:nvPr/>
        </p:nvSpPr>
        <p:spPr>
          <a:xfrm>
            <a:off x="7223760" y="3145536"/>
            <a:ext cx="14173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Ransomware deployed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4"/>
          <p:cNvSpPr/>
          <p:nvPr/>
        </p:nvSpPr>
        <p:spPr>
          <a:xfrm>
            <a:off x="4983480" y="3118104"/>
            <a:ext cx="21488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97316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F97316"/>
                </a:solidFill>
                <a:latin typeface="Calibri"/>
                <a:ea typeface="Calibri"/>
                <a:cs typeface="Calibri"/>
                <a:sym typeface="Calibri"/>
              </a:rPr>
              <a:t>USB Drop Attack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4"/>
          <p:cNvSpPr/>
          <p:nvPr/>
        </p:nvSpPr>
        <p:spPr>
          <a:xfrm>
            <a:off x="4983480" y="3374136"/>
            <a:ext cx="37490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Curiosity drives 45% of people to plug in found USB drives. One employee plugs in a "free gift" USB in the parking lot.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4"/>
          <p:cNvSpPr/>
          <p:nvPr/>
        </p:nvSpPr>
        <p:spPr>
          <a:xfrm>
            <a:off x="4846320" y="3877056"/>
            <a:ext cx="3931920" cy="685800"/>
          </a:xfrm>
          <a:prstGeom prst="rect">
            <a:avLst/>
          </a:prstGeom>
          <a:solidFill>
            <a:srgbClr val="0F0F1A"/>
          </a:solidFill>
          <a:ln cap="flat" cmpd="sng" w="12700">
            <a:solidFill>
              <a:srgbClr val="2E2E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4"/>
          <p:cNvSpPr/>
          <p:nvPr/>
        </p:nvSpPr>
        <p:spPr>
          <a:xfrm>
            <a:off x="7223760" y="3950208"/>
            <a:ext cx="1417320" cy="256032"/>
          </a:xfrm>
          <a:prstGeom prst="rect">
            <a:avLst/>
          </a:prstGeom>
          <a:solidFill>
            <a:srgbClr val="38BDF8">
              <a:alpha val="7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4"/>
          <p:cNvSpPr/>
          <p:nvPr/>
        </p:nvSpPr>
        <p:spPr>
          <a:xfrm>
            <a:off x="7223760" y="3950208"/>
            <a:ext cx="14173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GDPR fine + breach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4"/>
          <p:cNvSpPr/>
          <p:nvPr/>
        </p:nvSpPr>
        <p:spPr>
          <a:xfrm>
            <a:off x="4983480" y="3922776"/>
            <a:ext cx="21488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38BDF8"/>
                </a:solidFill>
                <a:latin typeface="Calibri"/>
                <a:ea typeface="Calibri"/>
                <a:cs typeface="Calibri"/>
                <a:sym typeface="Calibri"/>
              </a:rPr>
              <a:t>Accidental Exposure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4"/>
          <p:cNvSpPr/>
          <p:nvPr/>
        </p:nvSpPr>
        <p:spPr>
          <a:xfrm>
            <a:off x="4983480" y="4178808"/>
            <a:ext cx="37490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HR manager emails a spreadsheet of 4,200 employee SSNs to the wrong distribution list. No encryption.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4"/>
          <p:cNvSpPr/>
          <p:nvPr/>
        </p:nvSpPr>
        <p:spPr>
          <a:xfrm>
            <a:off x="274330" y="4732150"/>
            <a:ext cx="8778300" cy="15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8C4D8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A8C4D8"/>
                </a:solidFill>
                <a:latin typeface="Calibri"/>
                <a:ea typeface="Calibri"/>
                <a:cs typeface="Calibri"/>
                <a:sym typeface="Calibri"/>
              </a:rPr>
              <a:t>Accredian is a leading Indian institution specializing in AI, Data Science, and Management research and education.</a:t>
            </a:r>
            <a:endParaRPr b="0" i="0" sz="7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4"/>
          <p:cNvSpPr/>
          <p:nvPr/>
        </p:nvSpPr>
        <p:spPr>
          <a:xfrm>
            <a:off x="274330" y="4946923"/>
            <a:ext cx="8778300" cy="15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8C4D8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A8C4D8"/>
                </a:solidFill>
                <a:latin typeface="Calibri"/>
                <a:ea typeface="Calibri"/>
                <a:cs typeface="Calibri"/>
                <a:sym typeface="Calibri"/>
              </a:rPr>
              <a:t>Visit us at: </a:t>
            </a:r>
            <a:r>
              <a:rPr b="1" i="0" lang="en-US" sz="750" u="sng" cap="none" strike="noStrike">
                <a:solidFill>
                  <a:srgbClr val="0563C1"/>
                </a:solidFill>
                <a:latin typeface="Calibri"/>
                <a:ea typeface="Calibri"/>
                <a:cs typeface="Calibri"/>
                <a:sym typeface="Calibri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https://accredian.com</a:t>
            </a:r>
            <a:endParaRPr b="0" i="0" sz="7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0F1A"/>
        </a:solidFill>
      </p:bgPr>
    </p:bg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5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C1C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5"/>
          <p:cNvSpPr/>
          <p:nvPr/>
        </p:nvSpPr>
        <p:spPr>
          <a:xfrm>
            <a:off x="0" y="0"/>
            <a:ext cx="64008" cy="804672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5"/>
          <p:cNvSpPr/>
          <p:nvPr/>
        </p:nvSpPr>
        <p:spPr>
          <a:xfrm>
            <a:off x="128016" y="0"/>
            <a:ext cx="502920" cy="8046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05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5"/>
          <p:cNvSpPr/>
          <p:nvPr/>
        </p:nvSpPr>
        <p:spPr>
          <a:xfrm>
            <a:off x="713232" y="0"/>
            <a:ext cx="5943600" cy="8046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Arial Black"/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The True Cost of Human Error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5"/>
          <p:cNvSpPr/>
          <p:nvPr/>
        </p:nvSpPr>
        <p:spPr>
          <a:xfrm>
            <a:off x="713232" y="0"/>
            <a:ext cx="8321040" cy="8046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Financial, operational, and reputational damage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5"/>
          <p:cNvSpPr/>
          <p:nvPr/>
        </p:nvSpPr>
        <p:spPr>
          <a:xfrm>
            <a:off x="0" y="4873752"/>
            <a:ext cx="9144000" cy="274320"/>
          </a:xfrm>
          <a:prstGeom prst="rect">
            <a:avLst/>
          </a:prstGeom>
          <a:solidFill>
            <a:srgbClr val="1C1C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5"/>
          <p:cNvSpPr/>
          <p:nvPr/>
        </p:nvSpPr>
        <p:spPr>
          <a:xfrm>
            <a:off x="228600" y="914400"/>
            <a:ext cx="2788920" cy="1417320"/>
          </a:xfrm>
          <a:prstGeom prst="rect">
            <a:avLst/>
          </a:prstGeom>
          <a:solidFill>
            <a:srgbClr val="1C1C32"/>
          </a:solidFill>
          <a:ln cap="flat" cmpd="sng" w="12700">
            <a:solidFill>
              <a:srgbClr val="2E2E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5"/>
          <p:cNvSpPr/>
          <p:nvPr/>
        </p:nvSpPr>
        <p:spPr>
          <a:xfrm>
            <a:off x="228600" y="914400"/>
            <a:ext cx="2788920" cy="54864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5"/>
          <p:cNvSpPr/>
          <p:nvPr/>
        </p:nvSpPr>
        <p:spPr>
          <a:xfrm>
            <a:off x="228600" y="1005840"/>
            <a:ext cx="27889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3000"/>
              <a:buFont typeface="Arial Black"/>
              <a:buNone/>
            </a:pPr>
            <a:r>
              <a:rPr b="1" i="0" lang="en-US" sz="3000" u="none" cap="none" strike="noStrike">
                <a:solidFill>
                  <a:srgbClr val="EF4444"/>
                </a:solidFill>
                <a:latin typeface="Arial Black"/>
                <a:ea typeface="Arial Black"/>
                <a:cs typeface="Arial Black"/>
                <a:sym typeface="Arial Black"/>
              </a:rPr>
              <a:t>$4.45M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5"/>
          <p:cNvSpPr/>
          <p:nvPr/>
        </p:nvSpPr>
        <p:spPr>
          <a:xfrm>
            <a:off x="228600" y="1664208"/>
            <a:ext cx="2788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Avg. breach cost (human error)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5"/>
          <p:cNvSpPr/>
          <p:nvPr/>
        </p:nvSpPr>
        <p:spPr>
          <a:xfrm>
            <a:off x="228600" y="1965960"/>
            <a:ext cx="2788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50"/>
              <a:buFont typeface="Calibri"/>
              <a:buNone/>
            </a:pPr>
            <a:r>
              <a:rPr b="0" i="1" lang="en-US" sz="8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Up 15% from 2020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5"/>
          <p:cNvSpPr/>
          <p:nvPr/>
        </p:nvSpPr>
        <p:spPr>
          <a:xfrm>
            <a:off x="3154680" y="914400"/>
            <a:ext cx="2788920" cy="1417320"/>
          </a:xfrm>
          <a:prstGeom prst="rect">
            <a:avLst/>
          </a:prstGeom>
          <a:solidFill>
            <a:srgbClr val="1C1C32"/>
          </a:solidFill>
          <a:ln cap="flat" cmpd="sng" w="12700">
            <a:solidFill>
              <a:srgbClr val="2E2E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5"/>
          <p:cNvSpPr/>
          <p:nvPr/>
        </p:nvSpPr>
        <p:spPr>
          <a:xfrm>
            <a:off x="3154680" y="914400"/>
            <a:ext cx="278892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5"/>
          <p:cNvSpPr/>
          <p:nvPr/>
        </p:nvSpPr>
        <p:spPr>
          <a:xfrm>
            <a:off x="3154680" y="1005840"/>
            <a:ext cx="27889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3000"/>
              <a:buFont typeface="Arial Black"/>
              <a:buNone/>
            </a:pPr>
            <a:r>
              <a:rPr b="1" i="0" lang="en-US" sz="3000" u="none" cap="none" strike="noStrike">
                <a:solidFill>
                  <a:srgbClr val="F59E0B"/>
                </a:solidFill>
                <a:latin typeface="Arial Black"/>
                <a:ea typeface="Arial Black"/>
                <a:cs typeface="Arial Black"/>
                <a:sym typeface="Arial Black"/>
              </a:rPr>
              <a:t>277 Days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5"/>
          <p:cNvSpPr/>
          <p:nvPr/>
        </p:nvSpPr>
        <p:spPr>
          <a:xfrm>
            <a:off x="3154680" y="1664208"/>
            <a:ext cx="2788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Mean time to identify &amp; contain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5"/>
          <p:cNvSpPr/>
          <p:nvPr/>
        </p:nvSpPr>
        <p:spPr>
          <a:xfrm>
            <a:off x="3154680" y="1965960"/>
            <a:ext cx="2788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50"/>
              <a:buFont typeface="Calibri"/>
              <a:buNone/>
            </a:pPr>
            <a:r>
              <a:rPr b="0" i="1" lang="en-US" sz="8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~9 months of undetected exposure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5"/>
          <p:cNvSpPr/>
          <p:nvPr/>
        </p:nvSpPr>
        <p:spPr>
          <a:xfrm>
            <a:off x="6080760" y="914400"/>
            <a:ext cx="2788920" cy="1417320"/>
          </a:xfrm>
          <a:prstGeom prst="rect">
            <a:avLst/>
          </a:prstGeom>
          <a:solidFill>
            <a:srgbClr val="1C1C32"/>
          </a:solidFill>
          <a:ln cap="flat" cmpd="sng" w="12700">
            <a:solidFill>
              <a:srgbClr val="2E2E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5"/>
          <p:cNvSpPr/>
          <p:nvPr/>
        </p:nvSpPr>
        <p:spPr>
          <a:xfrm>
            <a:off x="6080760" y="914400"/>
            <a:ext cx="2788920" cy="54864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5"/>
          <p:cNvSpPr/>
          <p:nvPr/>
        </p:nvSpPr>
        <p:spPr>
          <a:xfrm>
            <a:off x="6080760" y="1005840"/>
            <a:ext cx="27889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97316"/>
              </a:buClr>
              <a:buSzPts val="3000"/>
              <a:buFont typeface="Arial Black"/>
              <a:buNone/>
            </a:pPr>
            <a:r>
              <a:rPr b="1" i="0" lang="en-US" sz="3000" u="none" cap="none" strike="noStrike">
                <a:solidFill>
                  <a:srgbClr val="F97316"/>
                </a:solidFill>
                <a:latin typeface="Arial Black"/>
                <a:ea typeface="Arial Black"/>
                <a:cs typeface="Arial Black"/>
                <a:sym typeface="Arial Black"/>
              </a:rPr>
              <a:t>$150M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5"/>
          <p:cNvSpPr/>
          <p:nvPr/>
        </p:nvSpPr>
        <p:spPr>
          <a:xfrm>
            <a:off x="6080760" y="1664208"/>
            <a:ext cx="2788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Avg. stock drop post-breach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5"/>
          <p:cNvSpPr/>
          <p:nvPr/>
        </p:nvSpPr>
        <p:spPr>
          <a:xfrm>
            <a:off x="6080760" y="1965960"/>
            <a:ext cx="2788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50"/>
              <a:buFont typeface="Calibri"/>
              <a:buNone/>
            </a:pPr>
            <a:r>
              <a:rPr b="0" i="1" lang="en-US" sz="8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Within 3 months of disclosure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5"/>
          <p:cNvSpPr/>
          <p:nvPr/>
        </p:nvSpPr>
        <p:spPr>
          <a:xfrm>
            <a:off x="228600" y="2423160"/>
            <a:ext cx="8686800" cy="2468880"/>
          </a:xfrm>
          <a:prstGeom prst="rect">
            <a:avLst/>
          </a:prstGeom>
          <a:solidFill>
            <a:srgbClr val="1C1C32"/>
          </a:solidFill>
          <a:ln cap="flat" cmpd="sng" w="12700">
            <a:solidFill>
              <a:srgbClr val="2E2E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5"/>
          <p:cNvSpPr/>
          <p:nvPr/>
        </p:nvSpPr>
        <p:spPr>
          <a:xfrm>
            <a:off x="411480" y="251460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BREACH COST BREAKDOWN BY CATEGORY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5"/>
          <p:cNvSpPr/>
          <p:nvPr/>
        </p:nvSpPr>
        <p:spPr>
          <a:xfrm>
            <a:off x="411480" y="2926080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Detection &amp; Escalation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5"/>
          <p:cNvSpPr/>
          <p:nvPr/>
        </p:nvSpPr>
        <p:spPr>
          <a:xfrm>
            <a:off x="2606040" y="2962656"/>
            <a:ext cx="5303520" cy="201168"/>
          </a:xfrm>
          <a:prstGeom prst="rect">
            <a:avLst/>
          </a:prstGeom>
          <a:solidFill>
            <a:srgbClr val="2E2E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5"/>
          <p:cNvSpPr/>
          <p:nvPr/>
        </p:nvSpPr>
        <p:spPr>
          <a:xfrm>
            <a:off x="2606040" y="2962656"/>
            <a:ext cx="1484986" cy="20116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5"/>
          <p:cNvSpPr/>
          <p:nvPr/>
        </p:nvSpPr>
        <p:spPr>
          <a:xfrm>
            <a:off x="7973568" y="2926080"/>
            <a:ext cx="411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28%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5"/>
          <p:cNvSpPr/>
          <p:nvPr/>
        </p:nvSpPr>
        <p:spPr>
          <a:xfrm>
            <a:off x="8412480" y="292608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$1.58M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5"/>
          <p:cNvSpPr/>
          <p:nvPr/>
        </p:nvSpPr>
        <p:spPr>
          <a:xfrm>
            <a:off x="411480" y="3374136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Post-Breach Response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5"/>
          <p:cNvSpPr/>
          <p:nvPr/>
        </p:nvSpPr>
        <p:spPr>
          <a:xfrm>
            <a:off x="2606040" y="3410712"/>
            <a:ext cx="5303520" cy="201168"/>
          </a:xfrm>
          <a:prstGeom prst="rect">
            <a:avLst/>
          </a:prstGeom>
          <a:solidFill>
            <a:srgbClr val="2E2E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5"/>
          <p:cNvSpPr/>
          <p:nvPr/>
        </p:nvSpPr>
        <p:spPr>
          <a:xfrm>
            <a:off x="2606040" y="3410712"/>
            <a:ext cx="1431950" cy="201168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5"/>
          <p:cNvSpPr/>
          <p:nvPr/>
        </p:nvSpPr>
        <p:spPr>
          <a:xfrm>
            <a:off x="7973568" y="3374136"/>
            <a:ext cx="411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97316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97316"/>
                </a:solidFill>
                <a:latin typeface="Calibri"/>
                <a:ea typeface="Calibri"/>
                <a:cs typeface="Calibri"/>
                <a:sym typeface="Calibri"/>
              </a:rPr>
              <a:t>27%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5"/>
          <p:cNvSpPr/>
          <p:nvPr/>
        </p:nvSpPr>
        <p:spPr>
          <a:xfrm>
            <a:off x="8412480" y="3374136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$1.23M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5"/>
          <p:cNvSpPr/>
          <p:nvPr/>
        </p:nvSpPr>
        <p:spPr>
          <a:xfrm>
            <a:off x="411480" y="3822192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Lost Business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5"/>
          <p:cNvSpPr/>
          <p:nvPr/>
        </p:nvSpPr>
        <p:spPr>
          <a:xfrm>
            <a:off x="2606040" y="3858768"/>
            <a:ext cx="5303520" cy="201168"/>
          </a:xfrm>
          <a:prstGeom prst="rect">
            <a:avLst/>
          </a:prstGeom>
          <a:solidFill>
            <a:srgbClr val="2E2E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5"/>
          <p:cNvSpPr/>
          <p:nvPr/>
        </p:nvSpPr>
        <p:spPr>
          <a:xfrm>
            <a:off x="2606040" y="3858768"/>
            <a:ext cx="1272845" cy="201168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5"/>
          <p:cNvSpPr/>
          <p:nvPr/>
        </p:nvSpPr>
        <p:spPr>
          <a:xfrm>
            <a:off x="7973568" y="3822192"/>
            <a:ext cx="411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24%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5"/>
          <p:cNvSpPr/>
          <p:nvPr/>
        </p:nvSpPr>
        <p:spPr>
          <a:xfrm>
            <a:off x="8412480" y="382219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$1.30M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5"/>
          <p:cNvSpPr/>
          <p:nvPr/>
        </p:nvSpPr>
        <p:spPr>
          <a:xfrm>
            <a:off x="411480" y="4270248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Notification Costs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5"/>
          <p:cNvSpPr/>
          <p:nvPr/>
        </p:nvSpPr>
        <p:spPr>
          <a:xfrm>
            <a:off x="2606040" y="4306824"/>
            <a:ext cx="5303520" cy="201168"/>
          </a:xfrm>
          <a:prstGeom prst="rect">
            <a:avLst/>
          </a:prstGeom>
          <a:solidFill>
            <a:srgbClr val="2E2E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5"/>
          <p:cNvSpPr/>
          <p:nvPr/>
        </p:nvSpPr>
        <p:spPr>
          <a:xfrm>
            <a:off x="2606040" y="4306824"/>
            <a:ext cx="1113739" cy="20116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5"/>
          <p:cNvSpPr/>
          <p:nvPr/>
        </p:nvSpPr>
        <p:spPr>
          <a:xfrm>
            <a:off x="7973568" y="4270248"/>
            <a:ext cx="411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38BDF8"/>
                </a:solidFill>
                <a:latin typeface="Calibri"/>
                <a:ea typeface="Calibri"/>
                <a:cs typeface="Calibri"/>
                <a:sym typeface="Calibri"/>
              </a:rPr>
              <a:t>21%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5"/>
          <p:cNvSpPr/>
          <p:nvPr/>
        </p:nvSpPr>
        <p:spPr>
          <a:xfrm>
            <a:off x="8412480" y="4270248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$0.37M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5"/>
          <p:cNvSpPr/>
          <p:nvPr/>
        </p:nvSpPr>
        <p:spPr>
          <a:xfrm>
            <a:off x="274330" y="4732150"/>
            <a:ext cx="8778300" cy="15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8C4D8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A8C4D8"/>
                </a:solidFill>
                <a:latin typeface="Calibri"/>
                <a:ea typeface="Calibri"/>
                <a:cs typeface="Calibri"/>
                <a:sym typeface="Calibri"/>
              </a:rPr>
              <a:t>Accredian is a leading Indian institution specializing in AI, Data Science, and Management research and education.</a:t>
            </a:r>
            <a:endParaRPr b="0" i="0" sz="7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5"/>
          <p:cNvSpPr/>
          <p:nvPr/>
        </p:nvSpPr>
        <p:spPr>
          <a:xfrm>
            <a:off x="274330" y="4946923"/>
            <a:ext cx="8778300" cy="15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8C4D8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A8C4D8"/>
                </a:solidFill>
                <a:latin typeface="Calibri"/>
                <a:ea typeface="Calibri"/>
                <a:cs typeface="Calibri"/>
                <a:sym typeface="Calibri"/>
              </a:rPr>
              <a:t>Visit us at: </a:t>
            </a:r>
            <a:r>
              <a:rPr b="1" i="0" lang="en-US" sz="750" u="sng" cap="none" strike="noStrike">
                <a:solidFill>
                  <a:srgbClr val="0563C1"/>
                </a:solidFill>
                <a:latin typeface="Calibri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https://accredian.com</a:t>
            </a:r>
            <a:endParaRPr b="0" i="0" sz="7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0F1A"/>
        </a:solidFill>
      </p:bgPr>
    </p:bg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6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C1C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6"/>
          <p:cNvSpPr/>
          <p:nvPr/>
        </p:nvSpPr>
        <p:spPr>
          <a:xfrm>
            <a:off x="0" y="0"/>
            <a:ext cx="64008" cy="80467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6"/>
          <p:cNvSpPr/>
          <p:nvPr/>
        </p:nvSpPr>
        <p:spPr>
          <a:xfrm>
            <a:off x="128016" y="0"/>
            <a:ext cx="502920" cy="8046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06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6"/>
          <p:cNvSpPr/>
          <p:nvPr/>
        </p:nvSpPr>
        <p:spPr>
          <a:xfrm>
            <a:off x="713232" y="0"/>
            <a:ext cx="5943600" cy="8046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Arial Black"/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Who's Most at Risk?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6"/>
          <p:cNvSpPr/>
          <p:nvPr/>
        </p:nvSpPr>
        <p:spPr>
          <a:xfrm>
            <a:off x="713232" y="0"/>
            <a:ext cx="8321040" cy="8046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Human error rates by industry sector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6"/>
          <p:cNvSpPr/>
          <p:nvPr/>
        </p:nvSpPr>
        <p:spPr>
          <a:xfrm>
            <a:off x="0" y="4873752"/>
            <a:ext cx="9144000" cy="274320"/>
          </a:xfrm>
          <a:prstGeom prst="rect">
            <a:avLst/>
          </a:prstGeom>
          <a:solidFill>
            <a:srgbClr val="1C1C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6"/>
          <p:cNvSpPr/>
          <p:nvPr/>
        </p:nvSpPr>
        <p:spPr>
          <a:xfrm>
            <a:off x="228600" y="914400"/>
            <a:ext cx="8686800" cy="3977640"/>
          </a:xfrm>
          <a:prstGeom prst="rect">
            <a:avLst/>
          </a:prstGeom>
          <a:solidFill>
            <a:srgbClr val="1C1C32"/>
          </a:solidFill>
          <a:ln cap="flat" cmpd="sng" w="12700">
            <a:solidFill>
              <a:srgbClr val="2E2E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6"/>
          <p:cNvSpPr/>
          <p:nvPr/>
        </p:nvSpPr>
        <p:spPr>
          <a:xfrm>
            <a:off x="411480" y="987552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% of Breaches Attributed to Human Error by Sector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6"/>
          <p:cNvSpPr/>
          <p:nvPr/>
        </p:nvSpPr>
        <p:spPr>
          <a:xfrm>
            <a:off x="411480" y="1371600"/>
            <a:ext cx="16459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Healthcare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6"/>
          <p:cNvSpPr/>
          <p:nvPr/>
        </p:nvSpPr>
        <p:spPr>
          <a:xfrm>
            <a:off x="2148840" y="1417320"/>
            <a:ext cx="5029200" cy="201168"/>
          </a:xfrm>
          <a:prstGeom prst="rect">
            <a:avLst/>
          </a:prstGeom>
          <a:solidFill>
            <a:srgbClr val="2E2E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6"/>
          <p:cNvSpPr/>
          <p:nvPr/>
        </p:nvSpPr>
        <p:spPr>
          <a:xfrm>
            <a:off x="2148840" y="1417320"/>
            <a:ext cx="4425696" cy="201168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6"/>
          <p:cNvSpPr/>
          <p:nvPr/>
        </p:nvSpPr>
        <p:spPr>
          <a:xfrm>
            <a:off x="7269480" y="1371600"/>
            <a:ext cx="4572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88%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6"/>
          <p:cNvSpPr/>
          <p:nvPr/>
        </p:nvSpPr>
        <p:spPr>
          <a:xfrm>
            <a:off x="7818120" y="1371600"/>
            <a:ext cx="10058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849 incidents in 2023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6"/>
          <p:cNvSpPr/>
          <p:nvPr/>
        </p:nvSpPr>
        <p:spPr>
          <a:xfrm>
            <a:off x="411480" y="1810512"/>
            <a:ext cx="16459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Financial Svcs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6"/>
          <p:cNvSpPr/>
          <p:nvPr/>
        </p:nvSpPr>
        <p:spPr>
          <a:xfrm>
            <a:off x="2148840" y="1856232"/>
            <a:ext cx="5029200" cy="201168"/>
          </a:xfrm>
          <a:prstGeom prst="rect">
            <a:avLst/>
          </a:prstGeom>
          <a:solidFill>
            <a:srgbClr val="2E2E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6"/>
          <p:cNvSpPr/>
          <p:nvPr/>
        </p:nvSpPr>
        <p:spPr>
          <a:xfrm>
            <a:off x="2148840" y="1856232"/>
            <a:ext cx="3721608" cy="20116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6"/>
          <p:cNvSpPr/>
          <p:nvPr/>
        </p:nvSpPr>
        <p:spPr>
          <a:xfrm>
            <a:off x="7269480" y="1810512"/>
            <a:ext cx="4572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74%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6"/>
          <p:cNvSpPr/>
          <p:nvPr/>
        </p:nvSpPr>
        <p:spPr>
          <a:xfrm>
            <a:off x="7818120" y="1810512"/>
            <a:ext cx="10058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477 incidents in 2023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6"/>
          <p:cNvSpPr/>
          <p:nvPr/>
        </p:nvSpPr>
        <p:spPr>
          <a:xfrm>
            <a:off x="411480" y="2249424"/>
            <a:ext cx="16459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Public Sector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6"/>
          <p:cNvSpPr/>
          <p:nvPr/>
        </p:nvSpPr>
        <p:spPr>
          <a:xfrm>
            <a:off x="2148840" y="2295144"/>
            <a:ext cx="5029200" cy="201168"/>
          </a:xfrm>
          <a:prstGeom prst="rect">
            <a:avLst/>
          </a:prstGeom>
          <a:solidFill>
            <a:srgbClr val="2E2E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6"/>
          <p:cNvSpPr/>
          <p:nvPr/>
        </p:nvSpPr>
        <p:spPr>
          <a:xfrm>
            <a:off x="2148840" y="2295144"/>
            <a:ext cx="3973068" cy="201168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6"/>
          <p:cNvSpPr/>
          <p:nvPr/>
        </p:nvSpPr>
        <p:spPr>
          <a:xfrm>
            <a:off x="7269480" y="2249424"/>
            <a:ext cx="4572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97316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97316"/>
                </a:solidFill>
                <a:latin typeface="Calibri"/>
                <a:ea typeface="Calibri"/>
                <a:cs typeface="Calibri"/>
                <a:sym typeface="Calibri"/>
              </a:rPr>
              <a:t>79%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6"/>
          <p:cNvSpPr/>
          <p:nvPr/>
        </p:nvSpPr>
        <p:spPr>
          <a:xfrm>
            <a:off x="7818120" y="2249424"/>
            <a:ext cx="10058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3,273 incidents in 2023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6"/>
          <p:cNvSpPr/>
          <p:nvPr/>
        </p:nvSpPr>
        <p:spPr>
          <a:xfrm>
            <a:off x="411480" y="2688336"/>
            <a:ext cx="16459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Education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6"/>
          <p:cNvSpPr/>
          <p:nvPr/>
        </p:nvSpPr>
        <p:spPr>
          <a:xfrm>
            <a:off x="2148840" y="2734056"/>
            <a:ext cx="5029200" cy="201168"/>
          </a:xfrm>
          <a:prstGeom prst="rect">
            <a:avLst/>
          </a:prstGeom>
          <a:solidFill>
            <a:srgbClr val="2E2E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6"/>
          <p:cNvSpPr/>
          <p:nvPr/>
        </p:nvSpPr>
        <p:spPr>
          <a:xfrm>
            <a:off x="2148840" y="2734056"/>
            <a:ext cx="4274820" cy="201168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6"/>
          <p:cNvSpPr/>
          <p:nvPr/>
        </p:nvSpPr>
        <p:spPr>
          <a:xfrm>
            <a:off x="7269480" y="2688336"/>
            <a:ext cx="4572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78BFA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A78BFA"/>
                </a:solidFill>
                <a:latin typeface="Calibri"/>
                <a:ea typeface="Calibri"/>
                <a:cs typeface="Calibri"/>
                <a:sym typeface="Calibri"/>
              </a:rPr>
              <a:t>85%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6"/>
          <p:cNvSpPr/>
          <p:nvPr/>
        </p:nvSpPr>
        <p:spPr>
          <a:xfrm>
            <a:off x="7818120" y="2688336"/>
            <a:ext cx="10058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497 incidents in 2023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6"/>
          <p:cNvSpPr/>
          <p:nvPr/>
        </p:nvSpPr>
        <p:spPr>
          <a:xfrm>
            <a:off x="411480" y="3127248"/>
            <a:ext cx="16459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Professional Svcs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6"/>
          <p:cNvSpPr/>
          <p:nvPr/>
        </p:nvSpPr>
        <p:spPr>
          <a:xfrm>
            <a:off x="2148840" y="3172968"/>
            <a:ext cx="5029200" cy="201168"/>
          </a:xfrm>
          <a:prstGeom prst="rect">
            <a:avLst/>
          </a:prstGeom>
          <a:solidFill>
            <a:srgbClr val="2E2E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6"/>
          <p:cNvSpPr/>
          <p:nvPr/>
        </p:nvSpPr>
        <p:spPr>
          <a:xfrm>
            <a:off x="2148840" y="3172968"/>
            <a:ext cx="3621024" cy="20116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6"/>
          <p:cNvSpPr/>
          <p:nvPr/>
        </p:nvSpPr>
        <p:spPr>
          <a:xfrm>
            <a:off x="7269480" y="3127248"/>
            <a:ext cx="4572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38BDF8"/>
                </a:solidFill>
                <a:latin typeface="Calibri"/>
                <a:ea typeface="Calibri"/>
                <a:cs typeface="Calibri"/>
                <a:sym typeface="Calibri"/>
              </a:rPr>
              <a:t>72%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6"/>
          <p:cNvSpPr/>
          <p:nvPr/>
        </p:nvSpPr>
        <p:spPr>
          <a:xfrm>
            <a:off x="7818120" y="3127248"/>
            <a:ext cx="10058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423 incidents in 2023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6"/>
          <p:cNvSpPr/>
          <p:nvPr/>
        </p:nvSpPr>
        <p:spPr>
          <a:xfrm>
            <a:off x="411480" y="3566160"/>
            <a:ext cx="16459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Retail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6"/>
          <p:cNvSpPr/>
          <p:nvPr/>
        </p:nvSpPr>
        <p:spPr>
          <a:xfrm>
            <a:off x="2148840" y="3611880"/>
            <a:ext cx="5029200" cy="201168"/>
          </a:xfrm>
          <a:prstGeom prst="rect">
            <a:avLst/>
          </a:prstGeom>
          <a:solidFill>
            <a:srgbClr val="2E2E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6"/>
          <p:cNvSpPr/>
          <p:nvPr/>
        </p:nvSpPr>
        <p:spPr>
          <a:xfrm>
            <a:off x="2148840" y="3611880"/>
            <a:ext cx="3168396" cy="201168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6"/>
          <p:cNvSpPr/>
          <p:nvPr/>
        </p:nvSpPr>
        <p:spPr>
          <a:xfrm>
            <a:off x="7269480" y="3566160"/>
            <a:ext cx="4572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22C55E"/>
                </a:solidFill>
                <a:latin typeface="Calibri"/>
                <a:ea typeface="Calibri"/>
                <a:cs typeface="Calibri"/>
                <a:sym typeface="Calibri"/>
              </a:rPr>
              <a:t>63%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6"/>
          <p:cNvSpPr/>
          <p:nvPr/>
        </p:nvSpPr>
        <p:spPr>
          <a:xfrm>
            <a:off x="7818120" y="3566160"/>
            <a:ext cx="10058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406 incidents in 2023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6"/>
          <p:cNvSpPr/>
          <p:nvPr/>
        </p:nvSpPr>
        <p:spPr>
          <a:xfrm>
            <a:off x="411480" y="4069080"/>
            <a:ext cx="8321040" cy="658368"/>
          </a:xfrm>
          <a:prstGeom prst="rect">
            <a:avLst/>
          </a:prstGeom>
          <a:solidFill>
            <a:srgbClr val="0F0F1A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62" name="Google Shape;262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8640" y="4160520"/>
            <a:ext cx="347472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263" name="Google Shape;263;p6"/>
          <p:cNvSpPr/>
          <p:nvPr/>
        </p:nvSpPr>
        <p:spPr>
          <a:xfrm>
            <a:off x="1005840" y="4133088"/>
            <a:ext cx="758952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950"/>
              <a:buFont typeface="Calibri"/>
              <a:buNone/>
            </a:pPr>
            <a:r>
              <a:rPr b="0" i="1" lang="en-US" sz="95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Key Insight: Healthcare leads not because employees are less careful, but because data sensitivity is highest and attack volume is greatest — making human error more consequential.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6"/>
          <p:cNvSpPr/>
          <p:nvPr/>
        </p:nvSpPr>
        <p:spPr>
          <a:xfrm>
            <a:off x="274330" y="4732150"/>
            <a:ext cx="8778300" cy="15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8C4D8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A8C4D8"/>
                </a:solidFill>
                <a:latin typeface="Calibri"/>
                <a:ea typeface="Calibri"/>
                <a:cs typeface="Calibri"/>
                <a:sym typeface="Calibri"/>
              </a:rPr>
              <a:t>Accredian is a leading Indian institution specializing in AI, Data Science, and Management research and education.</a:t>
            </a:r>
            <a:endParaRPr b="0" i="0" sz="7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6"/>
          <p:cNvSpPr/>
          <p:nvPr/>
        </p:nvSpPr>
        <p:spPr>
          <a:xfrm>
            <a:off x="274330" y="4946923"/>
            <a:ext cx="8778300" cy="15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8C4D8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A8C4D8"/>
                </a:solidFill>
                <a:latin typeface="Calibri"/>
                <a:ea typeface="Calibri"/>
                <a:cs typeface="Calibri"/>
                <a:sym typeface="Calibri"/>
              </a:rPr>
              <a:t>Visit us at: </a:t>
            </a:r>
            <a:r>
              <a:rPr b="1" i="0" lang="en-US" sz="750" u="sng" cap="none" strike="noStrike">
                <a:solidFill>
                  <a:srgbClr val="0563C1"/>
                </a:solidFill>
                <a:latin typeface="Calibri"/>
                <a:ea typeface="Calibri"/>
                <a:cs typeface="Calibri"/>
                <a:sym typeface="Calibri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https://accredian.com</a:t>
            </a:r>
            <a:endParaRPr b="0" i="0" sz="7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0F1A"/>
        </a:solidFill>
      </p:bgPr>
    </p:bg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7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C1C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7"/>
          <p:cNvSpPr/>
          <p:nvPr/>
        </p:nvSpPr>
        <p:spPr>
          <a:xfrm>
            <a:off x="0" y="0"/>
            <a:ext cx="64008" cy="804672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7"/>
          <p:cNvSpPr/>
          <p:nvPr/>
        </p:nvSpPr>
        <p:spPr>
          <a:xfrm>
            <a:off x="128016" y="0"/>
            <a:ext cx="502920" cy="8046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07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7"/>
          <p:cNvSpPr/>
          <p:nvPr/>
        </p:nvSpPr>
        <p:spPr>
          <a:xfrm>
            <a:off x="713232" y="0"/>
            <a:ext cx="5943600" cy="8046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Arial Black"/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When Humans Made Headlines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7"/>
          <p:cNvSpPr/>
          <p:nvPr/>
        </p:nvSpPr>
        <p:spPr>
          <a:xfrm>
            <a:off x="713232" y="0"/>
            <a:ext cx="8321040" cy="8046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Landmark breaches caused by human error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7"/>
          <p:cNvSpPr/>
          <p:nvPr/>
        </p:nvSpPr>
        <p:spPr>
          <a:xfrm>
            <a:off x="0" y="4873752"/>
            <a:ext cx="9144000" cy="274320"/>
          </a:xfrm>
          <a:prstGeom prst="rect">
            <a:avLst/>
          </a:prstGeom>
          <a:solidFill>
            <a:srgbClr val="1C1C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7"/>
          <p:cNvSpPr/>
          <p:nvPr/>
        </p:nvSpPr>
        <p:spPr>
          <a:xfrm>
            <a:off x="228600" y="932688"/>
            <a:ext cx="4206240" cy="1828800"/>
          </a:xfrm>
          <a:prstGeom prst="rect">
            <a:avLst/>
          </a:prstGeom>
          <a:solidFill>
            <a:srgbClr val="1C1C32"/>
          </a:solidFill>
          <a:ln cap="flat" cmpd="sng" w="12700">
            <a:solidFill>
              <a:srgbClr val="2E2E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7"/>
          <p:cNvSpPr/>
          <p:nvPr/>
        </p:nvSpPr>
        <p:spPr>
          <a:xfrm>
            <a:off x="228600" y="932688"/>
            <a:ext cx="4206240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7"/>
          <p:cNvSpPr/>
          <p:nvPr/>
        </p:nvSpPr>
        <p:spPr>
          <a:xfrm>
            <a:off x="3017520" y="1024128"/>
            <a:ext cx="1298448" cy="256032"/>
          </a:xfrm>
          <a:prstGeom prst="rect">
            <a:avLst/>
          </a:prstGeom>
          <a:solidFill>
            <a:srgbClr val="38BDF8">
              <a:alpha val="7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7"/>
          <p:cNvSpPr/>
          <p:nvPr/>
        </p:nvSpPr>
        <p:spPr>
          <a:xfrm>
            <a:off x="3017520" y="1024128"/>
            <a:ext cx="129844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alibri"/>
              <a:buNone/>
            </a:pPr>
            <a:r>
              <a:rPr b="1" i="0" lang="en-US" sz="7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Social Engineering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7"/>
          <p:cNvSpPr/>
          <p:nvPr/>
        </p:nvSpPr>
        <p:spPr>
          <a:xfrm>
            <a:off x="365760" y="1024128"/>
            <a:ext cx="25603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Arial Black"/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Twitter (2020)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7"/>
          <p:cNvSpPr/>
          <p:nvPr/>
        </p:nvSpPr>
        <p:spPr>
          <a:xfrm>
            <a:off x="365760" y="1389888"/>
            <a:ext cx="393192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Hackers called Twitter's IT helpdesk posing as colleagues. Employees provided credentials. 130 high-profile accounts hijacked, including Obama and Biden.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7"/>
          <p:cNvSpPr/>
          <p:nvPr/>
        </p:nvSpPr>
        <p:spPr>
          <a:xfrm>
            <a:off x="365760" y="2185416"/>
            <a:ext cx="1737360" cy="256032"/>
          </a:xfrm>
          <a:prstGeom prst="rect">
            <a:avLst/>
          </a:prstGeom>
          <a:solidFill>
            <a:srgbClr val="EF4444">
              <a:alpha val="8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7"/>
          <p:cNvSpPr/>
          <p:nvPr/>
        </p:nvSpPr>
        <p:spPr>
          <a:xfrm>
            <a:off x="365760" y="2185416"/>
            <a:ext cx="17373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$36M regulatory fine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7"/>
          <p:cNvSpPr/>
          <p:nvPr/>
        </p:nvSpPr>
        <p:spPr>
          <a:xfrm>
            <a:off x="2221992" y="2194560"/>
            <a:ext cx="21031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750"/>
              <a:buFont typeface="Calibri"/>
              <a:buNone/>
            </a:pPr>
            <a:r>
              <a:rPr b="0" i="1" lang="en-US" sz="750" u="none" cap="none" strike="noStrik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Lesson: No verification protocol for internal access requests.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7"/>
          <p:cNvSpPr/>
          <p:nvPr/>
        </p:nvSpPr>
        <p:spPr>
          <a:xfrm>
            <a:off x="4690872" y="932688"/>
            <a:ext cx="4206240" cy="1828800"/>
          </a:xfrm>
          <a:prstGeom prst="rect">
            <a:avLst/>
          </a:prstGeom>
          <a:solidFill>
            <a:srgbClr val="1C1C32"/>
          </a:solidFill>
          <a:ln cap="flat" cmpd="sng" w="12700">
            <a:solidFill>
              <a:srgbClr val="2E2E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7"/>
          <p:cNvSpPr/>
          <p:nvPr/>
        </p:nvSpPr>
        <p:spPr>
          <a:xfrm>
            <a:off x="4690872" y="932688"/>
            <a:ext cx="420624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7"/>
          <p:cNvSpPr/>
          <p:nvPr/>
        </p:nvSpPr>
        <p:spPr>
          <a:xfrm>
            <a:off x="7479792" y="1024128"/>
            <a:ext cx="1298448" cy="256032"/>
          </a:xfrm>
          <a:prstGeom prst="rect">
            <a:avLst/>
          </a:prstGeom>
          <a:solidFill>
            <a:srgbClr val="F59E0B">
              <a:alpha val="7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7"/>
          <p:cNvSpPr/>
          <p:nvPr/>
        </p:nvSpPr>
        <p:spPr>
          <a:xfrm>
            <a:off x="7479792" y="1024128"/>
            <a:ext cx="129844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alibri"/>
              <a:buNone/>
            </a:pPr>
            <a:r>
              <a:rPr b="1" i="0" lang="en-US" sz="7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Misconfiguration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7"/>
          <p:cNvSpPr/>
          <p:nvPr/>
        </p:nvSpPr>
        <p:spPr>
          <a:xfrm>
            <a:off x="4828032" y="1024128"/>
            <a:ext cx="25603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Arial Black"/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Capital One (2019)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7"/>
          <p:cNvSpPr/>
          <p:nvPr/>
        </p:nvSpPr>
        <p:spPr>
          <a:xfrm>
            <a:off x="4828032" y="1389888"/>
            <a:ext cx="393192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A former AWS engineer exploited a misconfigured firewall — a human configuration error. 106 million customer records exposed including 140,000 SSNs.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7"/>
          <p:cNvSpPr/>
          <p:nvPr/>
        </p:nvSpPr>
        <p:spPr>
          <a:xfrm>
            <a:off x="4828032" y="2185416"/>
            <a:ext cx="1737360" cy="256032"/>
          </a:xfrm>
          <a:prstGeom prst="rect">
            <a:avLst/>
          </a:prstGeom>
          <a:solidFill>
            <a:srgbClr val="EF4444">
              <a:alpha val="8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7"/>
          <p:cNvSpPr/>
          <p:nvPr/>
        </p:nvSpPr>
        <p:spPr>
          <a:xfrm>
            <a:off x="4828032" y="2185416"/>
            <a:ext cx="17373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$190M settlement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7"/>
          <p:cNvSpPr/>
          <p:nvPr/>
        </p:nvSpPr>
        <p:spPr>
          <a:xfrm>
            <a:off x="6684264" y="2194560"/>
            <a:ext cx="21031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750"/>
              <a:buFont typeface="Calibri"/>
              <a:buNone/>
            </a:pPr>
            <a:r>
              <a:rPr b="0" i="1" lang="en-US" sz="750" u="none" cap="none" strike="noStrik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Lesson: Single employee misconfiguration + no automated detection.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7"/>
          <p:cNvSpPr/>
          <p:nvPr/>
        </p:nvSpPr>
        <p:spPr>
          <a:xfrm>
            <a:off x="228600" y="2916936"/>
            <a:ext cx="4206240" cy="1828800"/>
          </a:xfrm>
          <a:prstGeom prst="rect">
            <a:avLst/>
          </a:prstGeom>
          <a:solidFill>
            <a:srgbClr val="1C1C32"/>
          </a:solidFill>
          <a:ln cap="flat" cmpd="sng" w="12700">
            <a:solidFill>
              <a:srgbClr val="2E2E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7"/>
          <p:cNvSpPr/>
          <p:nvPr/>
        </p:nvSpPr>
        <p:spPr>
          <a:xfrm>
            <a:off x="228600" y="2916936"/>
            <a:ext cx="4206240" cy="54864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7"/>
          <p:cNvSpPr/>
          <p:nvPr/>
        </p:nvSpPr>
        <p:spPr>
          <a:xfrm>
            <a:off x="3017520" y="3008376"/>
            <a:ext cx="1298448" cy="256032"/>
          </a:xfrm>
          <a:prstGeom prst="rect">
            <a:avLst/>
          </a:prstGeom>
          <a:solidFill>
            <a:srgbClr val="EF4444">
              <a:alpha val="7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p7"/>
          <p:cNvSpPr/>
          <p:nvPr/>
        </p:nvSpPr>
        <p:spPr>
          <a:xfrm>
            <a:off x="3017520" y="3008376"/>
            <a:ext cx="129844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alibri"/>
              <a:buNone/>
            </a:pPr>
            <a:r>
              <a:rPr b="1" i="0" lang="en-US" sz="7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Credential Exposure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7"/>
          <p:cNvSpPr/>
          <p:nvPr/>
        </p:nvSpPr>
        <p:spPr>
          <a:xfrm>
            <a:off x="365760" y="3008376"/>
            <a:ext cx="25603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Arial Black"/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SolarWinds (2020)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7"/>
          <p:cNvSpPr/>
          <p:nvPr/>
        </p:nvSpPr>
        <p:spPr>
          <a:xfrm>
            <a:off x="365760" y="3374136"/>
            <a:ext cx="393192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An intern uploaded a password "solarwinds123" to GitHub. Attackers used it months later to infiltrate systems affecting 18,000+ organizations including US govt.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7"/>
          <p:cNvSpPr/>
          <p:nvPr/>
        </p:nvSpPr>
        <p:spPr>
          <a:xfrm>
            <a:off x="365760" y="4169664"/>
            <a:ext cx="1737360" cy="256032"/>
          </a:xfrm>
          <a:prstGeom prst="rect">
            <a:avLst/>
          </a:prstGeom>
          <a:solidFill>
            <a:srgbClr val="EF4444">
              <a:alpha val="8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p7"/>
          <p:cNvSpPr/>
          <p:nvPr/>
        </p:nvSpPr>
        <p:spPr>
          <a:xfrm>
            <a:off x="365760" y="4169664"/>
            <a:ext cx="17373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$40M+ remediation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7"/>
          <p:cNvSpPr/>
          <p:nvPr/>
        </p:nvSpPr>
        <p:spPr>
          <a:xfrm>
            <a:off x="2221992" y="4178808"/>
            <a:ext cx="21031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750"/>
              <a:buFont typeface="Calibri"/>
              <a:buNone/>
            </a:pPr>
            <a:r>
              <a:rPr b="0" i="1" lang="en-US" sz="750" u="none" cap="none" strike="noStrik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Lesson: No policy preventing credential sharing in public repos.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7"/>
          <p:cNvSpPr/>
          <p:nvPr/>
        </p:nvSpPr>
        <p:spPr>
          <a:xfrm>
            <a:off x="4690872" y="2916936"/>
            <a:ext cx="4206240" cy="1828800"/>
          </a:xfrm>
          <a:prstGeom prst="rect">
            <a:avLst/>
          </a:prstGeom>
          <a:solidFill>
            <a:srgbClr val="1C1C32"/>
          </a:solidFill>
          <a:ln cap="flat" cmpd="sng" w="12700">
            <a:solidFill>
              <a:srgbClr val="2E2E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p7"/>
          <p:cNvSpPr/>
          <p:nvPr/>
        </p:nvSpPr>
        <p:spPr>
          <a:xfrm>
            <a:off x="4690872" y="2916936"/>
            <a:ext cx="4206240" cy="54864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p7"/>
          <p:cNvSpPr/>
          <p:nvPr/>
        </p:nvSpPr>
        <p:spPr>
          <a:xfrm>
            <a:off x="7479792" y="3008376"/>
            <a:ext cx="1298448" cy="256032"/>
          </a:xfrm>
          <a:prstGeom prst="rect">
            <a:avLst/>
          </a:prstGeom>
          <a:solidFill>
            <a:srgbClr val="F97316">
              <a:alpha val="7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7"/>
          <p:cNvSpPr/>
          <p:nvPr/>
        </p:nvSpPr>
        <p:spPr>
          <a:xfrm>
            <a:off x="7479792" y="3008376"/>
            <a:ext cx="129844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alibri"/>
              <a:buNone/>
            </a:pPr>
            <a:r>
              <a:rPr b="1" i="0" lang="en-US" sz="7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MFA Fatigue Attack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7"/>
          <p:cNvSpPr/>
          <p:nvPr/>
        </p:nvSpPr>
        <p:spPr>
          <a:xfrm>
            <a:off x="4828032" y="3008376"/>
            <a:ext cx="25603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Arial Black"/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Uber (2022)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7"/>
          <p:cNvSpPr/>
          <p:nvPr/>
        </p:nvSpPr>
        <p:spPr>
          <a:xfrm>
            <a:off x="4828032" y="3374136"/>
            <a:ext cx="393192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Attacker repeatedly sent MFA push notifications to an employee until they accepted out of frustration. Full internal network access gained within hours.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7"/>
          <p:cNvSpPr/>
          <p:nvPr/>
        </p:nvSpPr>
        <p:spPr>
          <a:xfrm>
            <a:off x="4828032" y="4169664"/>
            <a:ext cx="1737360" cy="256032"/>
          </a:xfrm>
          <a:prstGeom prst="rect">
            <a:avLst/>
          </a:prstGeom>
          <a:solidFill>
            <a:srgbClr val="EF4444">
              <a:alpha val="8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7"/>
          <p:cNvSpPr/>
          <p:nvPr/>
        </p:nvSpPr>
        <p:spPr>
          <a:xfrm>
            <a:off x="4828032" y="4169664"/>
            <a:ext cx="17373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$148M settlement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7"/>
          <p:cNvSpPr/>
          <p:nvPr/>
        </p:nvSpPr>
        <p:spPr>
          <a:xfrm>
            <a:off x="6684264" y="4178808"/>
            <a:ext cx="21031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750"/>
              <a:buFont typeface="Calibri"/>
              <a:buNone/>
            </a:pPr>
            <a:r>
              <a:rPr b="0" i="1" lang="en-US" sz="750" u="none" cap="none" strike="noStrik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Lesson: MFA fatigue exploit + no anomaly detection on auth attempts.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7"/>
          <p:cNvSpPr/>
          <p:nvPr/>
        </p:nvSpPr>
        <p:spPr>
          <a:xfrm>
            <a:off x="274330" y="4732150"/>
            <a:ext cx="8778300" cy="15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8C4D8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A8C4D8"/>
                </a:solidFill>
                <a:latin typeface="Calibri"/>
                <a:ea typeface="Calibri"/>
                <a:cs typeface="Calibri"/>
                <a:sym typeface="Calibri"/>
              </a:rPr>
              <a:t>Accredian is a leading Indian institution specializing in AI, Data Science, and Management research and education.</a:t>
            </a:r>
            <a:endParaRPr b="0" i="0" sz="7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7"/>
          <p:cNvSpPr/>
          <p:nvPr/>
        </p:nvSpPr>
        <p:spPr>
          <a:xfrm>
            <a:off x="274330" y="4946923"/>
            <a:ext cx="8778300" cy="15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8C4D8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A8C4D8"/>
                </a:solidFill>
                <a:latin typeface="Calibri"/>
                <a:ea typeface="Calibri"/>
                <a:cs typeface="Calibri"/>
                <a:sym typeface="Calibri"/>
              </a:rPr>
              <a:t>Visit us at: </a:t>
            </a:r>
            <a:r>
              <a:rPr b="1" i="0" lang="en-US" sz="750" u="sng" cap="none" strike="noStrike">
                <a:solidFill>
                  <a:srgbClr val="0563C1"/>
                </a:solidFill>
                <a:latin typeface="Calibri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https://accredian.com</a:t>
            </a:r>
            <a:endParaRPr b="0" i="0" sz="7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0F1A"/>
        </a:solidFill>
      </p:bgPr>
    </p:bg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8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C1C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p8"/>
          <p:cNvSpPr/>
          <p:nvPr/>
        </p:nvSpPr>
        <p:spPr>
          <a:xfrm>
            <a:off x="0" y="0"/>
            <a:ext cx="64008" cy="80467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8"/>
          <p:cNvSpPr/>
          <p:nvPr/>
        </p:nvSpPr>
        <p:spPr>
          <a:xfrm>
            <a:off x="128016" y="0"/>
            <a:ext cx="502920" cy="8046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22C55E"/>
                </a:solidFill>
                <a:latin typeface="Calibri"/>
                <a:ea typeface="Calibri"/>
                <a:cs typeface="Calibri"/>
                <a:sym typeface="Calibri"/>
              </a:rPr>
              <a:t>08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8"/>
          <p:cNvSpPr/>
          <p:nvPr/>
        </p:nvSpPr>
        <p:spPr>
          <a:xfrm>
            <a:off x="713232" y="0"/>
            <a:ext cx="5943600" cy="8046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Arial Black"/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The Leadership Playbook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8"/>
          <p:cNvSpPr/>
          <p:nvPr/>
        </p:nvSpPr>
        <p:spPr>
          <a:xfrm>
            <a:off x="713232" y="0"/>
            <a:ext cx="8321040" cy="8046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How executives build a security-first culture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8"/>
          <p:cNvSpPr/>
          <p:nvPr/>
        </p:nvSpPr>
        <p:spPr>
          <a:xfrm>
            <a:off x="0" y="4873752"/>
            <a:ext cx="9144000" cy="274320"/>
          </a:xfrm>
          <a:prstGeom prst="rect">
            <a:avLst/>
          </a:prstGeom>
          <a:solidFill>
            <a:srgbClr val="1C1C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p8"/>
          <p:cNvSpPr/>
          <p:nvPr/>
        </p:nvSpPr>
        <p:spPr>
          <a:xfrm>
            <a:off x="228600" y="914400"/>
            <a:ext cx="2816352" cy="3977640"/>
          </a:xfrm>
          <a:prstGeom prst="rect">
            <a:avLst/>
          </a:prstGeom>
          <a:solidFill>
            <a:srgbClr val="1C1C32"/>
          </a:solidFill>
          <a:ln cap="flat" cmpd="sng" w="12700">
            <a:solidFill>
              <a:srgbClr val="2E2E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" name="Google Shape;327;p8"/>
          <p:cNvSpPr/>
          <p:nvPr/>
        </p:nvSpPr>
        <p:spPr>
          <a:xfrm>
            <a:off x="228600" y="914400"/>
            <a:ext cx="2816352" cy="54864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28" name="Google Shape;328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17320" y="1033272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329" name="Google Shape;329;p8"/>
          <p:cNvSpPr/>
          <p:nvPr/>
        </p:nvSpPr>
        <p:spPr>
          <a:xfrm>
            <a:off x="228600" y="1508760"/>
            <a:ext cx="2816352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1200"/>
              <a:buFont typeface="Arial Black"/>
              <a:buNone/>
            </a:pPr>
            <a:r>
              <a:rPr b="1" i="0" lang="en-US" sz="1200" u="none" cap="none" strike="noStrike">
                <a:solidFill>
                  <a:srgbClr val="22C55E"/>
                </a:solidFill>
                <a:latin typeface="Arial Black"/>
                <a:ea typeface="Arial Black"/>
                <a:cs typeface="Arial Black"/>
                <a:sym typeface="Arial Black"/>
              </a:rPr>
              <a:t>BUILD CULTURE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30" name="Google Shape;330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65760" y="2029968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31" name="Google Shape;331;p8"/>
          <p:cNvSpPr/>
          <p:nvPr/>
        </p:nvSpPr>
        <p:spPr>
          <a:xfrm>
            <a:off x="640080" y="1993392"/>
            <a:ext cx="233172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CEO publicly champions security — culture follows leaders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32" name="Google Shape;332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65760" y="2496312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33" name="Google Shape;333;p8"/>
          <p:cNvSpPr/>
          <p:nvPr/>
        </p:nvSpPr>
        <p:spPr>
          <a:xfrm>
            <a:off x="640080" y="2459736"/>
            <a:ext cx="233172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"No blame" reporting policy for near-misses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34" name="Google Shape;334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65760" y="2962656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35" name="Google Shape;335;p8"/>
          <p:cNvSpPr/>
          <p:nvPr/>
        </p:nvSpPr>
        <p:spPr>
          <a:xfrm>
            <a:off x="640080" y="2926080"/>
            <a:ext cx="233172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Security KPIs embedded in performance reviews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36" name="Google Shape;336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65760" y="3429000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37" name="Google Shape;337;p8"/>
          <p:cNvSpPr/>
          <p:nvPr/>
        </p:nvSpPr>
        <p:spPr>
          <a:xfrm>
            <a:off x="640080" y="3392424"/>
            <a:ext cx="233172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Recognize &amp; reward secure behaviors visibly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38" name="Google Shape;338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65760" y="3895344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39" name="Google Shape;339;p8"/>
          <p:cNvSpPr/>
          <p:nvPr/>
        </p:nvSpPr>
        <p:spPr>
          <a:xfrm>
            <a:off x="640080" y="3858768"/>
            <a:ext cx="233172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Monthly all-hands security updates from CISO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40" name="Google Shape;340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65760" y="4361688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41" name="Google Shape;341;p8"/>
          <p:cNvSpPr/>
          <p:nvPr/>
        </p:nvSpPr>
        <p:spPr>
          <a:xfrm>
            <a:off x="640080" y="4325112"/>
            <a:ext cx="233172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Make security everyone's job — not just IT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8"/>
          <p:cNvSpPr/>
          <p:nvPr/>
        </p:nvSpPr>
        <p:spPr>
          <a:xfrm>
            <a:off x="3172968" y="914400"/>
            <a:ext cx="2816352" cy="3977640"/>
          </a:xfrm>
          <a:prstGeom prst="rect">
            <a:avLst/>
          </a:prstGeom>
          <a:solidFill>
            <a:srgbClr val="1C1C32"/>
          </a:solidFill>
          <a:ln cap="flat" cmpd="sng" w="12700">
            <a:solidFill>
              <a:srgbClr val="2E2E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3" name="Google Shape;343;p8"/>
          <p:cNvSpPr/>
          <p:nvPr/>
        </p:nvSpPr>
        <p:spPr>
          <a:xfrm>
            <a:off x="3172968" y="914400"/>
            <a:ext cx="2816352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44" name="Google Shape;344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61688" y="1033272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345" name="Google Shape;345;p8"/>
          <p:cNvSpPr/>
          <p:nvPr/>
        </p:nvSpPr>
        <p:spPr>
          <a:xfrm>
            <a:off x="3172968" y="1508760"/>
            <a:ext cx="2816352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200"/>
              <a:buFont typeface="Arial Black"/>
              <a:buNone/>
            </a:pPr>
            <a:r>
              <a:rPr b="1" i="0" lang="en-US" sz="1200" u="none" cap="none" strike="noStrike">
                <a:solidFill>
                  <a:srgbClr val="F59E0B"/>
                </a:solidFill>
                <a:latin typeface="Arial Black"/>
                <a:ea typeface="Arial Black"/>
                <a:cs typeface="Arial Black"/>
                <a:sym typeface="Arial Black"/>
              </a:rPr>
              <a:t>TRAIN SMARTER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46" name="Google Shape;346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310128" y="2029968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47" name="Google Shape;347;p8"/>
          <p:cNvSpPr/>
          <p:nvPr/>
        </p:nvSpPr>
        <p:spPr>
          <a:xfrm>
            <a:off x="3584448" y="1993392"/>
            <a:ext cx="233172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Simulated phishing tests — monthly, not annual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48" name="Google Shape;348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310128" y="2496312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49" name="Google Shape;349;p8"/>
          <p:cNvSpPr/>
          <p:nvPr/>
        </p:nvSpPr>
        <p:spPr>
          <a:xfrm>
            <a:off x="3584448" y="2459736"/>
            <a:ext cx="233172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Role-based training (finance, HR, execs tailored)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50" name="Google Shape;350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310128" y="2962656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51" name="Google Shape;351;p8"/>
          <p:cNvSpPr/>
          <p:nvPr/>
        </p:nvSpPr>
        <p:spPr>
          <a:xfrm>
            <a:off x="3584448" y="2926080"/>
            <a:ext cx="233172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Micro-learning: 5-min modules beat 2-hr courses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52" name="Google Shape;352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310128" y="3429000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53" name="Google Shape;353;p8"/>
          <p:cNvSpPr/>
          <p:nvPr/>
        </p:nvSpPr>
        <p:spPr>
          <a:xfrm>
            <a:off x="3584448" y="3392424"/>
            <a:ext cx="233172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Immediate feedback when employees click phish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54" name="Google Shape;354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310128" y="3895344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55" name="Google Shape;355;p8"/>
          <p:cNvSpPr/>
          <p:nvPr/>
        </p:nvSpPr>
        <p:spPr>
          <a:xfrm>
            <a:off x="3584448" y="3858768"/>
            <a:ext cx="233172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Gamified security awareness programs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56" name="Google Shape;356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310128" y="4361688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57" name="Google Shape;357;p8"/>
          <p:cNvSpPr/>
          <p:nvPr/>
        </p:nvSpPr>
        <p:spPr>
          <a:xfrm>
            <a:off x="3584448" y="4325112"/>
            <a:ext cx="233172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Peer champion network in each department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8"/>
          <p:cNvSpPr/>
          <p:nvPr/>
        </p:nvSpPr>
        <p:spPr>
          <a:xfrm>
            <a:off x="6117336" y="914400"/>
            <a:ext cx="2816352" cy="3977640"/>
          </a:xfrm>
          <a:prstGeom prst="rect">
            <a:avLst/>
          </a:prstGeom>
          <a:solidFill>
            <a:srgbClr val="1C1C32"/>
          </a:solidFill>
          <a:ln cap="flat" cmpd="sng" w="12700">
            <a:solidFill>
              <a:srgbClr val="2E2E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9" name="Google Shape;359;p8"/>
          <p:cNvSpPr/>
          <p:nvPr/>
        </p:nvSpPr>
        <p:spPr>
          <a:xfrm>
            <a:off x="6117336" y="914400"/>
            <a:ext cx="2816352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60" name="Google Shape;360;p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306056" y="1033272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361" name="Google Shape;361;p8"/>
          <p:cNvSpPr/>
          <p:nvPr/>
        </p:nvSpPr>
        <p:spPr>
          <a:xfrm>
            <a:off x="6117336" y="1508760"/>
            <a:ext cx="2816352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1200"/>
              <a:buFont typeface="Arial Black"/>
              <a:buNone/>
            </a:pPr>
            <a:r>
              <a:rPr b="1" i="0" lang="en-US" sz="1200" u="none" cap="none" strike="noStrike">
                <a:solidFill>
                  <a:srgbClr val="38BDF8"/>
                </a:solidFill>
                <a:latin typeface="Arial Black"/>
                <a:ea typeface="Arial Black"/>
                <a:cs typeface="Arial Black"/>
                <a:sym typeface="Arial Black"/>
              </a:rPr>
              <a:t>LAYER TECHNOLOGY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62" name="Google Shape;362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54496" y="2029968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63" name="Google Shape;363;p8"/>
          <p:cNvSpPr/>
          <p:nvPr/>
        </p:nvSpPr>
        <p:spPr>
          <a:xfrm>
            <a:off x="6528816" y="1993392"/>
            <a:ext cx="233172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Phishing-resistant MFA (FIDO2/passkeys)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64" name="Google Shape;364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54496" y="2496312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65" name="Google Shape;365;p8"/>
          <p:cNvSpPr/>
          <p:nvPr/>
        </p:nvSpPr>
        <p:spPr>
          <a:xfrm>
            <a:off x="6528816" y="2459736"/>
            <a:ext cx="233172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Zero trust architecture — verify, never trust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66" name="Google Shape;366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54496" y="2962656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67" name="Google Shape;367;p8"/>
          <p:cNvSpPr/>
          <p:nvPr/>
        </p:nvSpPr>
        <p:spPr>
          <a:xfrm>
            <a:off x="6528816" y="2926080"/>
            <a:ext cx="233172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DLP to catch accidental data leaks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68" name="Google Shape;368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54496" y="3429000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69" name="Google Shape;369;p8"/>
          <p:cNvSpPr/>
          <p:nvPr/>
        </p:nvSpPr>
        <p:spPr>
          <a:xfrm>
            <a:off x="6528816" y="3392424"/>
            <a:ext cx="233172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Email authentication (DMARC, DKIM, SPF)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70" name="Google Shape;370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54496" y="3895344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71" name="Google Shape;371;p8"/>
          <p:cNvSpPr/>
          <p:nvPr/>
        </p:nvSpPr>
        <p:spPr>
          <a:xfrm>
            <a:off x="6528816" y="3858768"/>
            <a:ext cx="233172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Privileged access management (PAM)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72" name="Google Shape;372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54496" y="4361688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73" name="Google Shape;373;p8"/>
          <p:cNvSpPr/>
          <p:nvPr/>
        </p:nvSpPr>
        <p:spPr>
          <a:xfrm>
            <a:off x="6528816" y="4325112"/>
            <a:ext cx="233172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AI-powered anomaly detection on user behavior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8"/>
          <p:cNvSpPr/>
          <p:nvPr/>
        </p:nvSpPr>
        <p:spPr>
          <a:xfrm>
            <a:off x="274330" y="4732150"/>
            <a:ext cx="8778300" cy="15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8C4D8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A8C4D8"/>
                </a:solidFill>
                <a:latin typeface="Calibri"/>
                <a:ea typeface="Calibri"/>
                <a:cs typeface="Calibri"/>
                <a:sym typeface="Calibri"/>
              </a:rPr>
              <a:t>Accredian is a leading Indian institution specializing in AI, Data Science, and Management research and education.</a:t>
            </a:r>
            <a:endParaRPr b="0" i="0" sz="7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8"/>
          <p:cNvSpPr/>
          <p:nvPr/>
        </p:nvSpPr>
        <p:spPr>
          <a:xfrm>
            <a:off x="274330" y="4946923"/>
            <a:ext cx="8778300" cy="15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8C4D8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A8C4D8"/>
                </a:solidFill>
                <a:latin typeface="Calibri"/>
                <a:ea typeface="Calibri"/>
                <a:cs typeface="Calibri"/>
                <a:sym typeface="Calibri"/>
              </a:rPr>
              <a:t>Visit us at: </a:t>
            </a:r>
            <a:r>
              <a:rPr b="1" i="0" lang="en-US" sz="750" u="sng" cap="none" strike="noStrike">
                <a:solidFill>
                  <a:srgbClr val="0563C1"/>
                </a:solidFill>
                <a:latin typeface="Calibri"/>
                <a:ea typeface="Calibri"/>
                <a:cs typeface="Calibri"/>
                <a:sym typeface="Calibri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https://accredian.com</a:t>
            </a:r>
            <a:endParaRPr b="0" i="0" sz="7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0F1A"/>
        </a:solidFill>
      </p:bgPr>
    </p:bg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9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C1C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2" name="Google Shape;382;p9"/>
          <p:cNvSpPr/>
          <p:nvPr/>
        </p:nvSpPr>
        <p:spPr>
          <a:xfrm>
            <a:off x="0" y="0"/>
            <a:ext cx="64008" cy="804672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p9"/>
          <p:cNvSpPr/>
          <p:nvPr/>
        </p:nvSpPr>
        <p:spPr>
          <a:xfrm>
            <a:off x="128016" y="0"/>
            <a:ext cx="502920" cy="8046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78BF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A78BFA"/>
                </a:solidFill>
                <a:latin typeface="Calibri"/>
                <a:ea typeface="Calibri"/>
                <a:cs typeface="Calibri"/>
                <a:sym typeface="Calibri"/>
              </a:rPr>
              <a:t>09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9"/>
          <p:cNvSpPr/>
          <p:nvPr/>
        </p:nvSpPr>
        <p:spPr>
          <a:xfrm>
            <a:off x="713232" y="0"/>
            <a:ext cx="5943600" cy="8046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Arial Black"/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Security Culture Maturity Model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9"/>
          <p:cNvSpPr/>
          <p:nvPr/>
        </p:nvSpPr>
        <p:spPr>
          <a:xfrm>
            <a:off x="713232" y="0"/>
            <a:ext cx="8321040" cy="8046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Where is your organization today?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9"/>
          <p:cNvSpPr/>
          <p:nvPr/>
        </p:nvSpPr>
        <p:spPr>
          <a:xfrm>
            <a:off x="0" y="4873752"/>
            <a:ext cx="9144000" cy="274320"/>
          </a:xfrm>
          <a:prstGeom prst="rect">
            <a:avLst/>
          </a:prstGeom>
          <a:solidFill>
            <a:srgbClr val="1C1C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7" name="Google Shape;387;p9"/>
          <p:cNvSpPr/>
          <p:nvPr/>
        </p:nvSpPr>
        <p:spPr>
          <a:xfrm>
            <a:off x="228600" y="960120"/>
            <a:ext cx="8686800" cy="685800"/>
          </a:xfrm>
          <a:prstGeom prst="rect">
            <a:avLst/>
          </a:prstGeom>
          <a:solidFill>
            <a:srgbClr val="1C1C32"/>
          </a:solidFill>
          <a:ln cap="flat" cmpd="sng" w="12700">
            <a:solidFill>
              <a:srgbClr val="2E2E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8" name="Google Shape;388;p9"/>
          <p:cNvSpPr/>
          <p:nvPr/>
        </p:nvSpPr>
        <p:spPr>
          <a:xfrm>
            <a:off x="228600" y="960120"/>
            <a:ext cx="502920" cy="685800"/>
          </a:xfrm>
          <a:prstGeom prst="rect">
            <a:avLst/>
          </a:prstGeom>
          <a:solidFill>
            <a:srgbClr val="EF4444">
              <a:alpha val="8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9" name="Google Shape;389;p9"/>
          <p:cNvSpPr/>
          <p:nvPr/>
        </p:nvSpPr>
        <p:spPr>
          <a:xfrm>
            <a:off x="228600" y="960120"/>
            <a:ext cx="5029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 Black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9"/>
          <p:cNvSpPr/>
          <p:nvPr/>
        </p:nvSpPr>
        <p:spPr>
          <a:xfrm>
            <a:off x="822960" y="1453896"/>
            <a:ext cx="5029200" cy="91440"/>
          </a:xfrm>
          <a:prstGeom prst="rect">
            <a:avLst/>
          </a:prstGeom>
          <a:solidFill>
            <a:srgbClr val="2E2E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1" name="Google Shape;391;p9"/>
          <p:cNvSpPr/>
          <p:nvPr/>
        </p:nvSpPr>
        <p:spPr>
          <a:xfrm>
            <a:off x="822960" y="1453896"/>
            <a:ext cx="1097280" cy="9144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2" name="Google Shape;392;p9"/>
          <p:cNvSpPr/>
          <p:nvPr/>
        </p:nvSpPr>
        <p:spPr>
          <a:xfrm>
            <a:off x="822960" y="1024128"/>
            <a:ext cx="13716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1200"/>
              <a:buFont typeface="Arial Black"/>
              <a:buNone/>
            </a:pPr>
            <a:r>
              <a:rPr b="1" i="0" lang="en-US" sz="1200" u="none" cap="none" strike="noStrike">
                <a:solidFill>
                  <a:srgbClr val="EF4444"/>
                </a:solidFill>
                <a:latin typeface="Arial Black"/>
                <a:ea typeface="Arial Black"/>
                <a:cs typeface="Arial Black"/>
                <a:sym typeface="Arial Black"/>
              </a:rPr>
              <a:t>UNAWARE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9"/>
          <p:cNvSpPr/>
          <p:nvPr/>
        </p:nvSpPr>
        <p:spPr>
          <a:xfrm>
            <a:off x="2286000" y="1024128"/>
            <a:ext cx="5486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Employees have no security awareness. Policies exist on paper only. Breaches are frequent and surprising.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9"/>
          <p:cNvSpPr/>
          <p:nvPr/>
        </p:nvSpPr>
        <p:spPr>
          <a:xfrm>
            <a:off x="7863840" y="1106424"/>
            <a:ext cx="932688" cy="256032"/>
          </a:xfrm>
          <a:prstGeom prst="rect">
            <a:avLst/>
          </a:prstGeom>
          <a:solidFill>
            <a:srgbClr val="EF4444">
              <a:alpha val="7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5" name="Google Shape;395;p9"/>
          <p:cNvSpPr/>
          <p:nvPr/>
        </p:nvSpPr>
        <p:spPr>
          <a:xfrm>
            <a:off x="7863840" y="1106424"/>
            <a:ext cx="93268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High Risk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9"/>
          <p:cNvSpPr/>
          <p:nvPr/>
        </p:nvSpPr>
        <p:spPr>
          <a:xfrm>
            <a:off x="228600" y="1728216"/>
            <a:ext cx="8686800" cy="685800"/>
          </a:xfrm>
          <a:prstGeom prst="rect">
            <a:avLst/>
          </a:prstGeom>
          <a:solidFill>
            <a:srgbClr val="1C1C32"/>
          </a:solidFill>
          <a:ln cap="flat" cmpd="sng" w="12700">
            <a:solidFill>
              <a:srgbClr val="2E2E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7" name="Google Shape;397;p9"/>
          <p:cNvSpPr/>
          <p:nvPr/>
        </p:nvSpPr>
        <p:spPr>
          <a:xfrm>
            <a:off x="228600" y="1728216"/>
            <a:ext cx="502920" cy="685800"/>
          </a:xfrm>
          <a:prstGeom prst="rect">
            <a:avLst/>
          </a:prstGeom>
          <a:solidFill>
            <a:srgbClr val="F59E0B">
              <a:alpha val="8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8" name="Google Shape;398;p9"/>
          <p:cNvSpPr/>
          <p:nvPr/>
        </p:nvSpPr>
        <p:spPr>
          <a:xfrm>
            <a:off x="228600" y="1728216"/>
            <a:ext cx="5029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 Black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9"/>
          <p:cNvSpPr/>
          <p:nvPr/>
        </p:nvSpPr>
        <p:spPr>
          <a:xfrm>
            <a:off x="822960" y="2221992"/>
            <a:ext cx="5029200" cy="91440"/>
          </a:xfrm>
          <a:prstGeom prst="rect">
            <a:avLst/>
          </a:prstGeom>
          <a:solidFill>
            <a:srgbClr val="2E2E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0" name="Google Shape;400;p9"/>
          <p:cNvSpPr/>
          <p:nvPr/>
        </p:nvSpPr>
        <p:spPr>
          <a:xfrm>
            <a:off x="822960" y="2221992"/>
            <a:ext cx="2194560" cy="914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1" name="Google Shape;401;p9"/>
          <p:cNvSpPr/>
          <p:nvPr/>
        </p:nvSpPr>
        <p:spPr>
          <a:xfrm>
            <a:off x="822960" y="1792224"/>
            <a:ext cx="13716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200"/>
              <a:buFont typeface="Arial Black"/>
              <a:buNone/>
            </a:pPr>
            <a:r>
              <a:rPr b="1" i="0" lang="en-US" sz="1200" u="none" cap="none" strike="noStrike">
                <a:solidFill>
                  <a:srgbClr val="F59E0B"/>
                </a:solidFill>
                <a:latin typeface="Arial Black"/>
                <a:ea typeface="Arial Black"/>
                <a:cs typeface="Arial Black"/>
                <a:sym typeface="Arial Black"/>
              </a:rPr>
              <a:t>COMPLIANT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9"/>
          <p:cNvSpPr/>
          <p:nvPr/>
        </p:nvSpPr>
        <p:spPr>
          <a:xfrm>
            <a:off x="2286000" y="1792224"/>
            <a:ext cx="5486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Annual training is mandatory but checkbox-driven. Employees know the rules but don't internalize them.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9"/>
          <p:cNvSpPr/>
          <p:nvPr/>
        </p:nvSpPr>
        <p:spPr>
          <a:xfrm>
            <a:off x="7863840" y="1874520"/>
            <a:ext cx="932688" cy="256032"/>
          </a:xfrm>
          <a:prstGeom prst="rect">
            <a:avLst/>
          </a:prstGeom>
          <a:solidFill>
            <a:srgbClr val="F59E0B">
              <a:alpha val="7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4" name="Google Shape;404;p9"/>
          <p:cNvSpPr/>
          <p:nvPr/>
        </p:nvSpPr>
        <p:spPr>
          <a:xfrm>
            <a:off x="7863840" y="1874520"/>
            <a:ext cx="93268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Moderate Risk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9"/>
          <p:cNvSpPr/>
          <p:nvPr/>
        </p:nvSpPr>
        <p:spPr>
          <a:xfrm>
            <a:off x="228600" y="2496312"/>
            <a:ext cx="8686800" cy="685800"/>
          </a:xfrm>
          <a:prstGeom prst="rect">
            <a:avLst/>
          </a:prstGeom>
          <a:solidFill>
            <a:srgbClr val="1C1C32"/>
          </a:solidFill>
          <a:ln cap="flat" cmpd="sng" w="12700">
            <a:solidFill>
              <a:srgbClr val="2E2E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6" name="Google Shape;406;p9"/>
          <p:cNvSpPr/>
          <p:nvPr/>
        </p:nvSpPr>
        <p:spPr>
          <a:xfrm>
            <a:off x="228600" y="2496312"/>
            <a:ext cx="502920" cy="685800"/>
          </a:xfrm>
          <a:prstGeom prst="rect">
            <a:avLst/>
          </a:prstGeom>
          <a:solidFill>
            <a:srgbClr val="F97316">
              <a:alpha val="8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7" name="Google Shape;407;p9"/>
          <p:cNvSpPr/>
          <p:nvPr/>
        </p:nvSpPr>
        <p:spPr>
          <a:xfrm>
            <a:off x="228600" y="2496312"/>
            <a:ext cx="5029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 Black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3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9"/>
          <p:cNvSpPr/>
          <p:nvPr/>
        </p:nvSpPr>
        <p:spPr>
          <a:xfrm>
            <a:off x="822960" y="2990088"/>
            <a:ext cx="5029200" cy="91440"/>
          </a:xfrm>
          <a:prstGeom prst="rect">
            <a:avLst/>
          </a:prstGeom>
          <a:solidFill>
            <a:srgbClr val="2E2E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9" name="Google Shape;409;p9"/>
          <p:cNvSpPr/>
          <p:nvPr/>
        </p:nvSpPr>
        <p:spPr>
          <a:xfrm>
            <a:off x="822960" y="2990088"/>
            <a:ext cx="3291840" cy="9144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0" name="Google Shape;410;p9"/>
          <p:cNvSpPr/>
          <p:nvPr/>
        </p:nvSpPr>
        <p:spPr>
          <a:xfrm>
            <a:off x="822960" y="2560320"/>
            <a:ext cx="13716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97316"/>
              </a:buClr>
              <a:buSzPts val="1200"/>
              <a:buFont typeface="Arial Black"/>
              <a:buNone/>
            </a:pPr>
            <a:r>
              <a:rPr b="1" i="0" lang="en-US" sz="1200" u="none" cap="none" strike="noStrike">
                <a:solidFill>
                  <a:srgbClr val="F97316"/>
                </a:solidFill>
                <a:latin typeface="Arial Black"/>
                <a:ea typeface="Arial Black"/>
                <a:cs typeface="Arial Black"/>
                <a:sym typeface="Arial Black"/>
              </a:rPr>
              <a:t>AWARE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9"/>
          <p:cNvSpPr/>
          <p:nvPr/>
        </p:nvSpPr>
        <p:spPr>
          <a:xfrm>
            <a:off x="2286000" y="2560320"/>
            <a:ext cx="5486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Regular training, simulated phishing, and metrics tracking. Most employees can identify common threats.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9"/>
          <p:cNvSpPr/>
          <p:nvPr/>
        </p:nvSpPr>
        <p:spPr>
          <a:xfrm>
            <a:off x="7863840" y="2642616"/>
            <a:ext cx="932688" cy="256032"/>
          </a:xfrm>
          <a:prstGeom prst="rect">
            <a:avLst/>
          </a:prstGeom>
          <a:solidFill>
            <a:srgbClr val="F97316">
              <a:alpha val="7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3" name="Google Shape;413;p9"/>
          <p:cNvSpPr/>
          <p:nvPr/>
        </p:nvSpPr>
        <p:spPr>
          <a:xfrm>
            <a:off x="7863840" y="2642616"/>
            <a:ext cx="93268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Improving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9"/>
          <p:cNvSpPr/>
          <p:nvPr/>
        </p:nvSpPr>
        <p:spPr>
          <a:xfrm>
            <a:off x="228600" y="3264408"/>
            <a:ext cx="8686800" cy="685800"/>
          </a:xfrm>
          <a:prstGeom prst="rect">
            <a:avLst/>
          </a:prstGeom>
          <a:solidFill>
            <a:srgbClr val="1C1C32"/>
          </a:solidFill>
          <a:ln cap="flat" cmpd="sng" w="12700">
            <a:solidFill>
              <a:srgbClr val="2E2E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5" name="Google Shape;415;p9"/>
          <p:cNvSpPr/>
          <p:nvPr/>
        </p:nvSpPr>
        <p:spPr>
          <a:xfrm>
            <a:off x="228600" y="3264408"/>
            <a:ext cx="502920" cy="685800"/>
          </a:xfrm>
          <a:prstGeom prst="rect">
            <a:avLst/>
          </a:prstGeom>
          <a:solidFill>
            <a:srgbClr val="38BDF8">
              <a:alpha val="8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6" name="Google Shape;416;p9"/>
          <p:cNvSpPr/>
          <p:nvPr/>
        </p:nvSpPr>
        <p:spPr>
          <a:xfrm>
            <a:off x="228600" y="3264408"/>
            <a:ext cx="5029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 Black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4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9"/>
          <p:cNvSpPr/>
          <p:nvPr/>
        </p:nvSpPr>
        <p:spPr>
          <a:xfrm>
            <a:off x="822960" y="3758184"/>
            <a:ext cx="5029200" cy="91440"/>
          </a:xfrm>
          <a:prstGeom prst="rect">
            <a:avLst/>
          </a:prstGeom>
          <a:solidFill>
            <a:srgbClr val="2E2E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8" name="Google Shape;418;p9"/>
          <p:cNvSpPr/>
          <p:nvPr/>
        </p:nvSpPr>
        <p:spPr>
          <a:xfrm>
            <a:off x="822960" y="3758184"/>
            <a:ext cx="4389120" cy="9144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9" name="Google Shape;419;p9"/>
          <p:cNvSpPr/>
          <p:nvPr/>
        </p:nvSpPr>
        <p:spPr>
          <a:xfrm>
            <a:off x="822960" y="3328416"/>
            <a:ext cx="13716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1200"/>
              <a:buFont typeface="Arial Black"/>
              <a:buNone/>
            </a:pPr>
            <a:r>
              <a:rPr b="1" i="0" lang="en-US" sz="1200" u="none" cap="none" strike="noStrike">
                <a:solidFill>
                  <a:srgbClr val="38BDF8"/>
                </a:solidFill>
                <a:latin typeface="Arial Black"/>
                <a:ea typeface="Arial Black"/>
                <a:cs typeface="Arial Black"/>
                <a:sym typeface="Arial Black"/>
              </a:rPr>
              <a:t>PROACTIVE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p9"/>
          <p:cNvSpPr/>
          <p:nvPr/>
        </p:nvSpPr>
        <p:spPr>
          <a:xfrm>
            <a:off x="2286000" y="3328416"/>
            <a:ext cx="5486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Employees report suspicious activity. Near-miss culture exists. Security is embedded in daily workflows.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9"/>
          <p:cNvSpPr/>
          <p:nvPr/>
        </p:nvSpPr>
        <p:spPr>
          <a:xfrm>
            <a:off x="7863840" y="3410712"/>
            <a:ext cx="932688" cy="256032"/>
          </a:xfrm>
          <a:prstGeom prst="rect">
            <a:avLst/>
          </a:prstGeom>
          <a:solidFill>
            <a:srgbClr val="38BDF8">
              <a:alpha val="7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2" name="Google Shape;422;p9"/>
          <p:cNvSpPr/>
          <p:nvPr/>
        </p:nvSpPr>
        <p:spPr>
          <a:xfrm>
            <a:off x="7863840" y="3410712"/>
            <a:ext cx="93268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Strong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9"/>
          <p:cNvSpPr/>
          <p:nvPr/>
        </p:nvSpPr>
        <p:spPr>
          <a:xfrm>
            <a:off x="228600" y="4032504"/>
            <a:ext cx="8686800" cy="685800"/>
          </a:xfrm>
          <a:prstGeom prst="rect">
            <a:avLst/>
          </a:prstGeom>
          <a:solidFill>
            <a:srgbClr val="1C1C32"/>
          </a:solidFill>
          <a:ln cap="flat" cmpd="sng" w="12700">
            <a:solidFill>
              <a:srgbClr val="2E2E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4" name="Google Shape;424;p9"/>
          <p:cNvSpPr/>
          <p:nvPr/>
        </p:nvSpPr>
        <p:spPr>
          <a:xfrm>
            <a:off x="228600" y="4032504"/>
            <a:ext cx="502920" cy="685800"/>
          </a:xfrm>
          <a:prstGeom prst="rect">
            <a:avLst/>
          </a:prstGeom>
          <a:solidFill>
            <a:srgbClr val="22C55E">
              <a:alpha val="8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5" name="Google Shape;425;p9"/>
          <p:cNvSpPr/>
          <p:nvPr/>
        </p:nvSpPr>
        <p:spPr>
          <a:xfrm>
            <a:off x="228600" y="4032504"/>
            <a:ext cx="5029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 Black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5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p9"/>
          <p:cNvSpPr/>
          <p:nvPr/>
        </p:nvSpPr>
        <p:spPr>
          <a:xfrm>
            <a:off x="822960" y="4526280"/>
            <a:ext cx="5029200" cy="91440"/>
          </a:xfrm>
          <a:prstGeom prst="rect">
            <a:avLst/>
          </a:prstGeom>
          <a:solidFill>
            <a:srgbClr val="2E2E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7" name="Google Shape;427;p9"/>
          <p:cNvSpPr/>
          <p:nvPr/>
        </p:nvSpPr>
        <p:spPr>
          <a:xfrm>
            <a:off x="822960" y="4526280"/>
            <a:ext cx="5486400" cy="9144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8" name="Google Shape;428;p9"/>
          <p:cNvSpPr/>
          <p:nvPr/>
        </p:nvSpPr>
        <p:spPr>
          <a:xfrm>
            <a:off x="822960" y="4096512"/>
            <a:ext cx="13716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1200"/>
              <a:buFont typeface="Arial Black"/>
              <a:buNone/>
            </a:pPr>
            <a:r>
              <a:rPr b="1" i="0" lang="en-US" sz="1200" u="none" cap="none" strike="noStrike">
                <a:solidFill>
                  <a:srgbClr val="22C55E"/>
                </a:solidFill>
                <a:latin typeface="Arial Black"/>
                <a:ea typeface="Arial Black"/>
                <a:cs typeface="Arial Black"/>
                <a:sym typeface="Arial Black"/>
              </a:rPr>
              <a:t>RESILIENT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9"/>
          <p:cNvSpPr/>
          <p:nvPr/>
        </p:nvSpPr>
        <p:spPr>
          <a:xfrm>
            <a:off x="2286000" y="4096512"/>
            <a:ext cx="5486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Security is a shared organizational value. Employees are an active last line of defense. Continuous improvement is measured.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9"/>
          <p:cNvSpPr/>
          <p:nvPr/>
        </p:nvSpPr>
        <p:spPr>
          <a:xfrm>
            <a:off x="7863840" y="4178808"/>
            <a:ext cx="932688" cy="256032"/>
          </a:xfrm>
          <a:prstGeom prst="rect">
            <a:avLst/>
          </a:prstGeom>
          <a:solidFill>
            <a:srgbClr val="22C55E">
              <a:alpha val="7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1" name="Google Shape;431;p9"/>
          <p:cNvSpPr/>
          <p:nvPr/>
        </p:nvSpPr>
        <p:spPr>
          <a:xfrm>
            <a:off x="7863840" y="4178808"/>
            <a:ext cx="93268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Best-in-Class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9"/>
          <p:cNvSpPr/>
          <p:nvPr/>
        </p:nvSpPr>
        <p:spPr>
          <a:xfrm>
            <a:off x="274330" y="4732150"/>
            <a:ext cx="8778300" cy="15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8C4D8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A8C4D8"/>
                </a:solidFill>
                <a:latin typeface="Calibri"/>
                <a:ea typeface="Calibri"/>
                <a:cs typeface="Calibri"/>
                <a:sym typeface="Calibri"/>
              </a:rPr>
              <a:t>Accredian is a leading Indian institution specializing in AI, Data Science, and Management research and education.</a:t>
            </a:r>
            <a:endParaRPr b="0" i="0" sz="7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p9"/>
          <p:cNvSpPr/>
          <p:nvPr/>
        </p:nvSpPr>
        <p:spPr>
          <a:xfrm>
            <a:off x="274330" y="4946923"/>
            <a:ext cx="8778300" cy="15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8C4D8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A8C4D8"/>
                </a:solidFill>
                <a:latin typeface="Calibri"/>
                <a:ea typeface="Calibri"/>
                <a:cs typeface="Calibri"/>
                <a:sym typeface="Calibri"/>
              </a:rPr>
              <a:t>Visit us at: </a:t>
            </a:r>
            <a:r>
              <a:rPr b="1" i="0" lang="en-US" sz="750" u="sng" cap="none" strike="noStrike">
                <a:solidFill>
                  <a:srgbClr val="0563C1"/>
                </a:solidFill>
                <a:latin typeface="Calibri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https://accredian.com</a:t>
            </a:r>
            <a:endParaRPr b="0" i="0" sz="7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0F1A"/>
        </a:solidFill>
      </p:bgPr>
    </p:bg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1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0" name="Google Shape;440;p1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1" name="Google Shape;441;p10"/>
          <p:cNvSpPr/>
          <p:nvPr/>
        </p:nvSpPr>
        <p:spPr>
          <a:xfrm>
            <a:off x="9079992" y="0"/>
            <a:ext cx="64008" cy="51435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2" name="Google Shape;442;p10"/>
          <p:cNvSpPr/>
          <p:nvPr/>
        </p:nvSpPr>
        <p:spPr>
          <a:xfrm>
            <a:off x="182880" y="228600"/>
            <a:ext cx="457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97316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97316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3" name="Google Shape;443;p10"/>
          <p:cNvSpPr/>
          <p:nvPr/>
        </p:nvSpPr>
        <p:spPr>
          <a:xfrm>
            <a:off x="228600" y="548640"/>
            <a:ext cx="86868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 Black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Key Takeaways for Leaders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4" name="Google Shape;444;p10"/>
          <p:cNvSpPr/>
          <p:nvPr/>
        </p:nvSpPr>
        <p:spPr>
          <a:xfrm>
            <a:off x="228600" y="1234440"/>
            <a:ext cx="3200400" cy="4572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5" name="Google Shape;445;p10"/>
          <p:cNvSpPr/>
          <p:nvPr/>
        </p:nvSpPr>
        <p:spPr>
          <a:xfrm>
            <a:off x="228600" y="1371600"/>
            <a:ext cx="475488" cy="594360"/>
          </a:xfrm>
          <a:prstGeom prst="rect">
            <a:avLst/>
          </a:prstGeom>
          <a:solidFill>
            <a:srgbClr val="EF4444">
              <a:alpha val="8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6" name="Google Shape;446;p10"/>
          <p:cNvSpPr/>
          <p:nvPr/>
        </p:nvSpPr>
        <p:spPr>
          <a:xfrm>
            <a:off x="228600" y="1371600"/>
            <a:ext cx="475488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1400"/>
              <a:buFont typeface="Arial Black"/>
              <a:buNone/>
            </a:pPr>
            <a:r>
              <a:rPr b="1" i="0" lang="en-US" sz="1400" u="none" cap="none" strike="noStrike">
                <a:solidFill>
                  <a:srgbClr val="EF4444"/>
                </a:solidFill>
                <a:latin typeface="Arial Black"/>
                <a:ea typeface="Arial Black"/>
                <a:cs typeface="Arial Black"/>
                <a:sym typeface="Arial Black"/>
              </a:rPr>
              <a:t>01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7" name="Google Shape;447;p10"/>
          <p:cNvSpPr/>
          <p:nvPr/>
        </p:nvSpPr>
        <p:spPr>
          <a:xfrm>
            <a:off x="804672" y="1444752"/>
            <a:ext cx="809244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Technology alone cannot solve a human problem. Culture, training, and leadership accountability are the foundation of real security.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8" name="Google Shape;448;p10"/>
          <p:cNvSpPr/>
          <p:nvPr/>
        </p:nvSpPr>
        <p:spPr>
          <a:xfrm>
            <a:off x="228600" y="2139696"/>
            <a:ext cx="475488" cy="594360"/>
          </a:xfrm>
          <a:prstGeom prst="rect">
            <a:avLst/>
          </a:prstGeom>
          <a:solidFill>
            <a:srgbClr val="F59E0B">
              <a:alpha val="8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9" name="Google Shape;449;p10"/>
          <p:cNvSpPr/>
          <p:nvPr/>
        </p:nvSpPr>
        <p:spPr>
          <a:xfrm>
            <a:off x="228600" y="2139696"/>
            <a:ext cx="475488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400"/>
              <a:buFont typeface="Arial Black"/>
              <a:buNone/>
            </a:pPr>
            <a:r>
              <a:rPr b="1" i="0" lang="en-US" sz="1400" u="none" cap="none" strike="noStrike">
                <a:solidFill>
                  <a:srgbClr val="F59E0B"/>
                </a:solidFill>
                <a:latin typeface="Arial Black"/>
                <a:ea typeface="Arial Black"/>
                <a:cs typeface="Arial Black"/>
                <a:sym typeface="Arial Black"/>
              </a:rPr>
              <a:t>02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" name="Google Shape;450;p10"/>
          <p:cNvSpPr/>
          <p:nvPr/>
        </p:nvSpPr>
        <p:spPr>
          <a:xfrm>
            <a:off x="804672" y="2212848"/>
            <a:ext cx="809244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Employees are not the weakest link — they are untrained assets. Invest in people as the most effective security layer you have.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" name="Google Shape;451;p10"/>
          <p:cNvSpPr/>
          <p:nvPr/>
        </p:nvSpPr>
        <p:spPr>
          <a:xfrm>
            <a:off x="228600" y="2907792"/>
            <a:ext cx="475488" cy="594360"/>
          </a:xfrm>
          <a:prstGeom prst="rect">
            <a:avLst/>
          </a:prstGeom>
          <a:solidFill>
            <a:srgbClr val="22C55E">
              <a:alpha val="8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2" name="Google Shape;452;p10"/>
          <p:cNvSpPr/>
          <p:nvPr/>
        </p:nvSpPr>
        <p:spPr>
          <a:xfrm>
            <a:off x="228600" y="2907792"/>
            <a:ext cx="475488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1400"/>
              <a:buFont typeface="Arial Black"/>
              <a:buNone/>
            </a:pPr>
            <a:r>
              <a:rPr b="1" i="0" lang="en-US" sz="1400" u="none" cap="none" strike="noStrike">
                <a:solidFill>
                  <a:srgbClr val="22C55E"/>
                </a:solidFill>
                <a:latin typeface="Arial Black"/>
                <a:ea typeface="Arial Black"/>
                <a:cs typeface="Arial Black"/>
                <a:sym typeface="Arial Black"/>
              </a:rPr>
              <a:t>03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3" name="Google Shape;453;p10"/>
          <p:cNvSpPr/>
          <p:nvPr/>
        </p:nvSpPr>
        <p:spPr>
          <a:xfrm>
            <a:off x="804672" y="2980944"/>
            <a:ext cx="809244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Security awareness is not a one-time event. Continuous, role-specific, feedback-driven training is what changes behavior.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4" name="Google Shape;454;p10"/>
          <p:cNvSpPr/>
          <p:nvPr/>
        </p:nvSpPr>
        <p:spPr>
          <a:xfrm>
            <a:off x="228600" y="3675888"/>
            <a:ext cx="475488" cy="594360"/>
          </a:xfrm>
          <a:prstGeom prst="rect">
            <a:avLst/>
          </a:prstGeom>
          <a:solidFill>
            <a:srgbClr val="38BDF8">
              <a:alpha val="8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5" name="Google Shape;455;p10"/>
          <p:cNvSpPr/>
          <p:nvPr/>
        </p:nvSpPr>
        <p:spPr>
          <a:xfrm>
            <a:off x="228600" y="3675888"/>
            <a:ext cx="475488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1400"/>
              <a:buFont typeface="Arial Black"/>
              <a:buNone/>
            </a:pPr>
            <a:r>
              <a:rPr b="1" i="0" lang="en-US" sz="1400" u="none" cap="none" strike="noStrike">
                <a:solidFill>
                  <a:srgbClr val="38BDF8"/>
                </a:solidFill>
                <a:latin typeface="Arial Black"/>
                <a:ea typeface="Arial Black"/>
                <a:cs typeface="Arial Black"/>
                <a:sym typeface="Arial Black"/>
              </a:rPr>
              <a:t>04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6" name="Google Shape;456;p10"/>
          <p:cNvSpPr/>
          <p:nvPr/>
        </p:nvSpPr>
        <p:spPr>
          <a:xfrm>
            <a:off x="804672" y="3749040"/>
            <a:ext cx="809244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Leadership sets the tone. If executives bypass security protocols, employees will too. Visible commitment changes culture fast.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7" name="Google Shape;457;p10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8" name="Google Shape;458;p10"/>
          <p:cNvSpPr/>
          <p:nvPr/>
        </p:nvSpPr>
        <p:spPr>
          <a:xfrm>
            <a:off x="301705" y="4444000"/>
            <a:ext cx="8778300" cy="15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8C4D8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A8C4D8"/>
                </a:solidFill>
                <a:latin typeface="Calibri"/>
                <a:ea typeface="Calibri"/>
                <a:cs typeface="Calibri"/>
                <a:sym typeface="Calibri"/>
              </a:rPr>
              <a:t>Accredian is a leading Indian institution specializing in AI, Data Science, and Management research and education.</a:t>
            </a:r>
            <a:endParaRPr b="0" i="0" sz="7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9" name="Google Shape;459;p10"/>
          <p:cNvSpPr/>
          <p:nvPr/>
        </p:nvSpPr>
        <p:spPr>
          <a:xfrm>
            <a:off x="301705" y="4658773"/>
            <a:ext cx="8778300" cy="15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8C4D8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A8C4D8"/>
                </a:solidFill>
                <a:latin typeface="Calibri"/>
                <a:ea typeface="Calibri"/>
                <a:cs typeface="Calibri"/>
                <a:sym typeface="Calibri"/>
              </a:rPr>
              <a:t>Visit us at: </a:t>
            </a:r>
            <a:r>
              <a:rPr b="1" i="0" lang="en-US" sz="750" u="sng" cap="none" strike="noStrike">
                <a:solidFill>
                  <a:srgbClr val="0563C1"/>
                </a:solidFill>
                <a:latin typeface="Calibri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https://accredian.com</a:t>
            </a:r>
            <a:endParaRPr b="0" i="0" sz="7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2026-03-20T11:49:11Z</dcterms:created>
  <dc:creator>PptxGenJS</dc:creator>
</cp:coreProperties>
</file>