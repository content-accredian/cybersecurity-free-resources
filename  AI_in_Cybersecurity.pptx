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nBYk+BIVaFdxCYBkBke7O7HWE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629400" y="1234440"/>
            <a:ext cx="2286000" cy="26974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629400" y="1234440"/>
            <a:ext cx="22860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629400" y="14173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$10.5T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629400" y="18013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Cybercrime costs annually by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629400" y="22402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3,200+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629400" y="26243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Cyberattacks occur every day globally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629400" y="30632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&lt; 1 sec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629400" y="34472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Time to detect threats with AI systems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11480" y="27432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2025 TRENDING TOPIC IN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11480" y="658368"/>
            <a:ext cx="5943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Impact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AI in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11480" y="1316736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4600"/>
              <a:buFont typeface="Impact"/>
              <a:buNone/>
            </a:pPr>
            <a:r>
              <a:rPr b="1" i="0" lang="en-US" sz="4600" u="none" cap="none" strike="noStrike">
                <a:solidFill>
                  <a:srgbClr val="E74C3C"/>
                </a:solidFill>
                <a:latin typeface="Impact"/>
                <a:ea typeface="Impact"/>
                <a:cs typeface="Impact"/>
                <a:sym typeface="Impact"/>
              </a:rPr>
              <a:t>Cybersecurity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1480" y="2121408"/>
            <a:ext cx="6035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Defending the Digital World with Intelligent Systems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11480" y="2706624"/>
            <a:ext cx="4206240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11480" y="283464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AI is transforming threat detection, incident response,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fraud prevention, and the future of digital defence.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11480" y="3858768"/>
            <a:ext cx="1938528" cy="420624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411480" y="3858768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🛡️ Threat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496312" y="3858768"/>
            <a:ext cx="1938528" cy="420624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2496312" y="3858768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🔍 Anomaly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581144" y="3858768"/>
            <a:ext cx="1938528" cy="420624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581144" y="3858768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🤖 AI SOC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665976" y="3858768"/>
            <a:ext cx="1938528" cy="420624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665976" y="3858768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🔐 Zero Trust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808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specialising in AI, Data Science, and Management research and education.  Visit us at: </a:t>
            </a:r>
            <a:r>
              <a:rPr b="0" i="0" lang="en-US" sz="750" u="sng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mpact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Modern Cybersecurity Threat Landscape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74320" y="896112"/>
            <a:ext cx="2834640" cy="126187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74320" y="896112"/>
            <a:ext cx="28346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84048" y="9875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41248" y="950976"/>
            <a:ext cx="21579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4.45M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84048" y="1508760"/>
            <a:ext cx="26151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Average cost of a data breach in 2023 (USD)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246120" y="896112"/>
            <a:ext cx="2834640" cy="126187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246120" y="896112"/>
            <a:ext cx="28346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355848" y="9875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👨‍💻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813048" y="950976"/>
            <a:ext cx="21579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3.5M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355848" y="1508760"/>
            <a:ext cx="26151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Unfilled cybersecurity jobs worldwide by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17920" y="896112"/>
            <a:ext cx="2834640" cy="126187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217920" y="896112"/>
            <a:ext cx="28346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327648" y="9875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784848" y="950976"/>
            <a:ext cx="21579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560K+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327648" y="1508760"/>
            <a:ext cx="26151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New malware variants detected every single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74320" y="2286000"/>
            <a:ext cx="8595360" cy="234086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74320" y="2286000"/>
            <a:ext cx="91440" cy="2340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02920" y="235915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Why Traditional Defences Are Failing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38912" y="2761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77824" y="2761488"/>
            <a:ext cx="7790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Attack speeds are outpacing human analysts — adversaries dwell in networks for an average of 197 days before detection.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38912" y="31821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77824" y="3182112"/>
            <a:ext cx="7790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AI-powered offensive tools (WormGPT, FraudGPT) generate polymorphic malware and spear-phishing at industrial scale.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38912" y="36027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877824" y="3602736"/>
            <a:ext cx="7790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Attack surfaces are exploding: 15B+ IoT devices, cloud workloads, and remote endpoints — impossible to monitor manually.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38912" y="4023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77824" y="4023360"/>
            <a:ext cx="7790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The cybersecurity talent gap means organisations are vastly understaffed — human-only defence is no longer viable.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808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specialising in AI, Data Science, and Management research and education.  Visit us at: </a:t>
            </a:r>
            <a:r>
              <a:rPr b="0" i="0" lang="en-US" sz="750" u="sng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mpact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How AI Defends: Key Application Domains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82880" y="932688"/>
            <a:ext cx="2084832" cy="16642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182880" y="932688"/>
            <a:ext cx="2084832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74320" y="1024128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74320" y="148132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Threat Detection &amp; UEBA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74320" y="1828800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ML models learn normal user and entity behaviour baselines, then flag deviations — detecting insider threats and compromised accounts.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395728" y="932688"/>
            <a:ext cx="2084832" cy="16642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2395728" y="932688"/>
            <a:ext cx="2084832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487168" y="1024128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487168" y="148132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487168" y="1828800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Deep learning–powered IDS (e.g. Darktrace) analyse billions of network packets per second to identify attack patterns in real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608576" y="932688"/>
            <a:ext cx="2084832" cy="16642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608576" y="932688"/>
            <a:ext cx="2084832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700016" y="1024128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700016" y="148132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Phishing &amp; Email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700016" y="1828800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NLP classifiers detect spear-phishing, BEC, and social engineering emails with 99%+ accuracy — blocking threats before the inbox.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821424" y="932688"/>
            <a:ext cx="2084832" cy="16642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821424" y="932688"/>
            <a:ext cx="2084832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912864" y="1024128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912864" y="148132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Malware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912864" y="1828800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Graph neural networks and transformer models analyse binary code to classify zero-day malware variants without signature databases.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82880" y="2734056"/>
            <a:ext cx="2084832" cy="16642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182880" y="2734056"/>
            <a:ext cx="2084832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74320" y="2825496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74320" y="328269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Fraud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74320" y="363016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Real-time ML models at banks and payment processors flag fraudulent transactions in &lt; 100ms — processing millions of events daily.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395728" y="2734056"/>
            <a:ext cx="2084832" cy="16642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2395728" y="2734056"/>
            <a:ext cx="2084832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487168" y="2825496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487168" y="328269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AI-Powered SOC Automation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487168" y="363016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LLM-driven SOAR platforms triage alerts, investigate incidents, and generate remediation playbooks autonomously — reducing analyst load.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608576" y="2734056"/>
            <a:ext cx="2084832" cy="16642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608576" y="2734056"/>
            <a:ext cx="2084832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4700016" y="2825496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700016" y="328269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Vulnerability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700016" y="363016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AI prioritises CVEs by exploitability and business impact — helping security teams focus patching effort where it matters most.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821424" y="2734056"/>
            <a:ext cx="2084832" cy="16642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821424" y="2734056"/>
            <a:ext cx="2084832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912864" y="2825496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🔮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912864" y="328269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Threat Intelligence &amp;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912864" y="363016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ML models ingest dark web feeds, honeypot data, and OSINT to predict attacker TTPs before campaigns launch.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808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specialising in AI, Data Science, and Management research and education.  Visit us at: </a:t>
            </a:r>
            <a:r>
              <a:rPr b="0" i="0" lang="en-US" sz="750" u="sng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mpact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T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AI Threat Detection Pipeline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74320" y="93268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274320" y="932688"/>
            <a:ext cx="82296" cy="106070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38912" y="1024128"/>
            <a:ext cx="530352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38912" y="1024128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078992" y="10241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Ingestion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38912" y="1408176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Logs, network flows (NetFlow/PCAP), endpoint telemetry, SIEM events, and cloud audit trails are streamed in real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754880" y="93268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754880" y="932688"/>
            <a:ext cx="82296" cy="106070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919472" y="1024128"/>
            <a:ext cx="530352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919472" y="1024128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559552" y="10241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919472" y="1408176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Temporal, statistical, and graph features are extracted — connection frequency, byte ratios, login times, lateral movement patterns.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74320" y="212140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274320" y="2121408"/>
            <a:ext cx="82296" cy="106070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438912" y="2212848"/>
            <a:ext cx="530352" cy="2560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38912" y="2212848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078992" y="22128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Anomaly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38912" y="2596896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Unsupervised models (autoencoders, isolation forests) flag statistical outliers. Supervised classifiers identify known attack signatures.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754880" y="212140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4754880" y="2121408"/>
            <a:ext cx="82296" cy="10607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919472" y="2212848"/>
            <a:ext cx="530352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919472" y="2212848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559552" y="22128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Threat Correlation &amp; Scoring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919472" y="2596896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Graph-based AI correlates alerts across systems, eliminating false positives and building a unified threat narrative.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274320" y="331012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274320" y="3310128"/>
            <a:ext cx="82296" cy="10607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438912" y="3401568"/>
            <a:ext cx="53035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38912" y="3401568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078992" y="34015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Response (SOAR)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438912" y="3785616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Playbooks trigger automatically — isolating hosts, revoking credentials, blocking IPs, and notifying analysts with full context.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754880" y="331012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4754880" y="3310128"/>
            <a:ext cx="82296" cy="106070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4919472" y="3401568"/>
            <a:ext cx="530352" cy="2560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4919472" y="3401568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559552" y="34015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Continuous Model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919472" y="3785616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Analyst feedback and confirmed incidents retrain models — the system improves with every attack it encounters.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808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specialising in AI, Data Science, and Management research and education.  Visit us at: </a:t>
            </a:r>
            <a:r>
              <a:rPr b="0" i="0" lang="en-US" sz="750" u="sng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Impact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Leading AI Cybersecurity Platforms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74320" y="932688"/>
            <a:ext cx="4160520" cy="107899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274320" y="932688"/>
            <a:ext cx="82296" cy="10789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383280" y="1024128"/>
            <a:ext cx="950976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383280" y="1024128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Network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57200" y="10241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Darktrace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1389888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Self-learning AI that models 'normal' for every user and device — detects novel threats without signatures.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754880" y="932688"/>
            <a:ext cx="4160520" cy="107899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4754880" y="932688"/>
            <a:ext cx="82296" cy="10789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863840" y="1024128"/>
            <a:ext cx="950976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7863840" y="1024128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Endpoint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937760" y="10241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CrowdStrike Falcon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937760" y="1389888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Cloud-native AI platform stops breaches in real time across endpoints, cloud, and identity with ML-driven prevention.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74320" y="2139696"/>
            <a:ext cx="4160520" cy="107899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274320" y="2139696"/>
            <a:ext cx="82296" cy="10789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3383280" y="2231136"/>
            <a:ext cx="950976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383280" y="2231136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AI SIEM/SOAR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57200" y="223113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Microsoft Sentinel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57200" y="2596896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Cloud-native SIEM with ML-based anomaly detection, automated playbooks, and LLM-powered threat investigation.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754880" y="2139696"/>
            <a:ext cx="4160520" cy="107899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754880" y="2139696"/>
            <a:ext cx="82296" cy="10789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7863840" y="2231136"/>
            <a:ext cx="950976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7863840" y="2231136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Autonomous EDR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937760" y="223113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SentinelOne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937760" y="2596896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Fully autonomous threat detection and response — kills threats in milliseconds with zero human intervention.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74320" y="3346704"/>
            <a:ext cx="4160520" cy="107899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274320" y="3346704"/>
            <a:ext cx="82296" cy="107899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3383280" y="3438144"/>
            <a:ext cx="950976" cy="2560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3383280" y="3438144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Security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57200" y="343814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Google Chronicle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57200" y="3803904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Petabyte-scale security analytics powered by Google's AI — correlates threats across years of telemetry instantly.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754880" y="3346704"/>
            <a:ext cx="4160520" cy="107899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4754880" y="3346704"/>
            <a:ext cx="82296" cy="10789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7863840" y="3438144"/>
            <a:ext cx="950976" cy="2560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7863840" y="3438144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NDR / XDR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937760" y="343814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Vectra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937760" y="3803904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Attack signal intelligence prioritises real threats over alert noise — reducing analyst fatigue by 80%+.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808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specialising in AI, Data Science, and Management research and education.  Visit us at: </a:t>
            </a:r>
            <a:r>
              <a:rPr b="0" i="0" lang="en-US" sz="750" u="sng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mpact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Dark Side: AI as an Offensive Weapon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74320" y="877824"/>
            <a:ext cx="8595360" cy="566928"/>
          </a:xfrm>
          <a:prstGeom prst="rect">
            <a:avLst/>
          </a:prstGeom>
          <a:solidFill>
            <a:srgbClr val="1A0505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502920" y="905256"/>
            <a:ext cx="8046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⚠️  AI is a dual-use technology — the same capabilities that power defence are being weaponised by adversaries. Understanding offensive AI is essential to defending against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74320" y="1581912"/>
            <a:ext cx="4160520" cy="96926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274320" y="1581912"/>
            <a:ext cx="82296" cy="9692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02336" y="16550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96112" y="1655064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AI Malware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02336" y="2002536"/>
            <a:ext cx="3913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Tools like WormGPT generate polymorphic malware that mutates its own code to evade signature-based AV detection perpetually.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754880" y="1581912"/>
            <a:ext cx="4160520" cy="96926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754880" y="1581912"/>
            <a:ext cx="82296" cy="9692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4882896" y="16550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376672" y="1655064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Deepfake Social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882896" y="2002536"/>
            <a:ext cx="3913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Voice-cloned CEO calls and video deepfakes trick employees into wire transfers and credential handovers — a rising BEC vector.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274320" y="2642616"/>
            <a:ext cx="4160520" cy="96926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274320" y="2642616"/>
            <a:ext cx="82296" cy="9692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02336" y="271576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896112" y="271576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Hyper-Personalised Phishing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02336" y="3063240"/>
            <a:ext cx="3913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LLMs craft spear-phishing emails using scraped LinkedIn and social media data — indistinguishable from legitimate communications.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754880" y="2642616"/>
            <a:ext cx="4160520" cy="96926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754880" y="2642616"/>
            <a:ext cx="82296" cy="9692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4882896" y="271576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376672" y="271576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Automated Vulnerability Exploitation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882896" y="3063240"/>
            <a:ext cx="3913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AI-powered scanners probe attack surfaces 24/7, identifying and exploiting zero-days faster than patches can be deployed.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274320" y="3703320"/>
            <a:ext cx="4160520" cy="96926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274320" y="3703320"/>
            <a:ext cx="82296" cy="9692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402336" y="37764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896112" y="3776472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AI-Enhanced DDoS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02336" y="4123944"/>
            <a:ext cx="3913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ML orchestrates distributed botnets to adapt attack patterns in real time, bypassing traditional rate-limiting defences.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754880" y="3703320"/>
            <a:ext cx="4160520" cy="96926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4754880" y="3703320"/>
            <a:ext cx="82296" cy="9692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4882896" y="37764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🕵️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5376672" y="3776472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Adversarial ML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4882896" y="4123944"/>
            <a:ext cx="3913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Attackers craft adversarial inputs that fool AI security models — making malicious traffic appear benign to ML-based detectors.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808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specialising in AI, Data Science, and Management research and education.  Visit us at: </a:t>
            </a:r>
            <a:r>
              <a:rPr b="0" i="0" lang="en-US" sz="750" u="sng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Impact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Challenges &amp; Ethical Considerations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74320" y="93268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74320" y="932688"/>
            <a:ext cx="4160520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402336" y="102412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896112" y="102412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Alert Fatigue &amp; False Positives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02336" y="1408176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AI security tools still generate millions of alerts weekly. Without intelligent triage, analysts are overwhelmed — missing real threats.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754880" y="93268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4754880" y="932688"/>
            <a:ext cx="4160520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882896" y="102412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🎭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376672" y="102412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Adversarial Model Attacks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882896" y="1408176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Attackers deliberately craft inputs to fool AI detectors. Robust, adversarially-trained models and ensemble defences are essential.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74320" y="212140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274320" y="2121408"/>
            <a:ext cx="4160520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02336" y="221284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896112" y="221284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Data Quality &amp; Poisoning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02336" y="2596896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AI models are only as good as their training data. Poisoned or unrepresentative data creates dangerous blind spots in detection.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754880" y="212140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4754880" y="2121408"/>
            <a:ext cx="4160520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4882896" y="221284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376672" y="221284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Privacy vs. Security Trade-offs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882896" y="2596896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Comprehensive monitoring raises civil liberties concerns. Balancing effective defence with employee and citizen privacy is a key tension.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74320" y="331012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274320" y="3310128"/>
            <a:ext cx="4160520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402336" y="340156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896112" y="340156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Nation-State AI Arms Race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402336" y="3785616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Governments are investing billions in offensive AI cyber capabilities — creating an escalating arms race with unpredictable consequences.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754880" y="3310128"/>
            <a:ext cx="4160520" cy="1060704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4754880" y="3310128"/>
            <a:ext cx="4160520" cy="6400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4882896" y="340156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376672" y="340156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Regulation &amp; Accountability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882896" y="3785616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Who is liable when an AI security system fails or makes a wrongful block? Regulation of AI in critical security infrastructure lags far behind.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808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specialising in AI, Data Science, and Management research and education.  Visit us at: </a:t>
            </a:r>
            <a:r>
              <a:rPr b="0" i="0" lang="en-US" sz="750" u="sng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mpact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Future of AI in Cybersecurity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74320" y="932688"/>
            <a:ext cx="1051560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274320" y="932688"/>
            <a:ext cx="1051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325880" y="1280160"/>
            <a:ext cx="256032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1581912" y="932688"/>
            <a:ext cx="7269480" cy="7498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1581912" y="932688"/>
            <a:ext cx="82296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1755648" y="98755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Autonomous AI SOC Analysts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755648" y="13167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LLM-powered agents investigate, triage, and respond to 80%+ of security incidents without human intervention.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74320" y="1828800"/>
            <a:ext cx="1051560" cy="7498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274320" y="1828800"/>
            <a:ext cx="1051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1325880" y="2176272"/>
            <a:ext cx="25603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1581912" y="1828800"/>
            <a:ext cx="7269480" cy="7498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1581912" y="1828800"/>
            <a:ext cx="82296" cy="7498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1755648" y="1883664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Predictive Cyber Threat Intelligence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1755648" y="221284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AI systems anticipate attacker campaigns days before they launch — shifting defence from reactive to pre-emptive.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274320" y="2724912"/>
            <a:ext cx="1051560" cy="7498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274320" y="2724912"/>
            <a:ext cx="1051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1325880" y="3072384"/>
            <a:ext cx="25603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1581912" y="2724912"/>
            <a:ext cx="7269480" cy="7498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1581912" y="2724912"/>
            <a:ext cx="82296" cy="7498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1755648" y="27797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Quantum-AI Hybrid Cryptography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1755648" y="310896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Post-quantum AI algorithms protect against both classical and quantum computer-powered decryption attacks.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274320" y="3621024"/>
            <a:ext cx="105156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274320" y="3621024"/>
            <a:ext cx="1051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2030+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1325880" y="3968496"/>
            <a:ext cx="25603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1581912" y="3621024"/>
            <a:ext cx="7269480" cy="74980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1581912" y="3621024"/>
            <a:ext cx="82296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1755648" y="367588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Cognitive Cyber Defence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1755648" y="4005072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1F0EE"/>
                </a:solidFill>
                <a:latin typeface="Calibri"/>
                <a:ea typeface="Calibri"/>
                <a:cs typeface="Calibri"/>
                <a:sym typeface="Calibri"/>
              </a:rPr>
              <a:t>Self-healing networks with AI that understands intent — moving from rule-based to reasoning-based cyber defence.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274320" y="4553712"/>
            <a:ext cx="8595360" cy="91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274320" y="4315968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30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</a:rPr>
              <a:t>"In the AI era, cybersecurity is no longer a technology problem — it is an intelligence problem. And AI gives defenders the edge."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80808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specialising in AI, Data Science, and Management research and education.  Visit us at: </a:t>
            </a:r>
            <a:r>
              <a:rPr b="0" i="0" lang="en-US" sz="750" u="sng" cap="none" strike="noStrike">
                <a:solidFill>
                  <a:srgbClr val="FFC3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2026-04-06T08:58:30Z</dcterms:created>
  <dc:creator>PptxGenJS</dc:creator>
</cp:coreProperties>
</file>