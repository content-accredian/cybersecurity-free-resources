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GMO9w/csCyn+YIh1mAtZf7dEn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62DAF9-1917-43F5-9F0A-668D1219B7A2}">
  <a:tblStyle styleId="{0162DAF9-1917-43F5-9F0A-668D1219B7A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accredian.com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ccredian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ccredian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ccredian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redian.co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hyperlink" Target="https://accredian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hyperlink" Target="https://accredian.com/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8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ccredian.com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ccredian.com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ccredian.com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hyperlink" Target="https://accredian.com/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5669280" y="274320"/>
            <a:ext cx="32004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457200" y="5486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EXECUTIVE BRIEFING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960120"/>
            <a:ext cx="56692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Translating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Cyber Risk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into Business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Impact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977640"/>
            <a:ext cx="2560320" cy="4572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411480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BDD5EA"/>
                </a:solidFill>
                <a:latin typeface="Calibri"/>
                <a:ea typeface="Calibri"/>
                <a:cs typeface="Calibri"/>
                <a:sym typeface="Calibri"/>
              </a:rPr>
              <a:t>From Technical Vulnerabilities to Boardroom Decisions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06805" y="4892048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TRANSLATION PROBLEM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960120"/>
            <a:ext cx="3840480" cy="3520440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65760" y="960120"/>
            <a:ext cx="3840480" cy="347472"/>
          </a:xfrm>
          <a:prstGeom prst="rect">
            <a:avLst/>
          </a:prstGeom>
          <a:solidFill>
            <a:srgbClr val="3A1C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57200" y="996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5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854E"/>
                </a:solidFill>
                <a:latin typeface="Calibri"/>
                <a:ea typeface="Calibri"/>
                <a:cs typeface="Calibri"/>
                <a:sym typeface="Calibri"/>
              </a:rPr>
              <a:t>🔴  What Security Teams Say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1417320"/>
            <a:ext cx="54864" cy="256032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21792" y="1399032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We have 847 unpatched CVEs in production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1984248"/>
            <a:ext cx="54864" cy="256032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21792" y="1965960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Our CVSS score average is 8.2 — critical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2551176"/>
            <a:ext cx="54864" cy="256032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21792" y="2532888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We detected lateral movement in subnet 10.4.x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3118104"/>
            <a:ext cx="54864" cy="256032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21792" y="3099816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Log4Shell exposure on 14 internet-facing hosts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3685032"/>
            <a:ext cx="54864" cy="256032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21792" y="3666744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Zero-day in our EDR vendor — signatures pending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937760" y="960120"/>
            <a:ext cx="3840480" cy="3520440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937760" y="960120"/>
            <a:ext cx="3840480" cy="347472"/>
          </a:xfrm>
          <a:prstGeom prst="rect">
            <a:avLst/>
          </a:prstGeom>
          <a:solidFill>
            <a:srgbClr val="0D2E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029200" y="996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🟡  What the Board Hears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074920" y="1417320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"Technical stuff... numbers... acronyms"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074920" y="1984248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"Is this worse than last quarter?"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074920" y="2551176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"What does this mean for our customers?"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074920" y="311810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"Do we need to tell regulators?"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074920" y="3685032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"How much will fixing this cost us?"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251960" y="2377440"/>
            <a:ext cx="640080" cy="73152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315968" y="224028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06805" y="4892048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THIS MATTERS: THE BUSINESS STAKES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74320" y="914400"/>
            <a:ext cx="1993392" cy="3200400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274320" y="914400"/>
            <a:ext cx="1993392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65760" y="109728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EF4444"/>
                </a:solidFill>
                <a:latin typeface="Georgia"/>
                <a:ea typeface="Georgia"/>
                <a:cs typeface="Georgia"/>
                <a:sym typeface="Georgia"/>
              </a:rPr>
              <a:t>$4.88M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65760" y="192024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cost of a data breach in 2024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65760" y="292608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IBM Cost of a Data Breach Report 2024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450592" y="914400"/>
            <a:ext cx="1993392" cy="3200400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2450592" y="914400"/>
            <a:ext cx="199339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2542032" y="109728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73 Days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542032" y="192024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time to identify + contain a breach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2542032" y="292608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Attackers operate undetected for over 2 months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626864" y="914400"/>
            <a:ext cx="1993392" cy="3200400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626864" y="914400"/>
            <a:ext cx="1993392" cy="91440"/>
          </a:xfrm>
          <a:prstGeom prst="rect">
            <a:avLst/>
          </a:prstGeom>
          <a:solidFill>
            <a:srgbClr val="F085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718304" y="109728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854E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0854E"/>
                </a:solidFill>
                <a:latin typeface="Georgia"/>
                <a:ea typeface="Georgia"/>
                <a:cs typeface="Georgia"/>
                <a:sym typeface="Georgia"/>
              </a:rPr>
              <a:t>17%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718304" y="192024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stock price drop post-breach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718304" y="292608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Public companies take lasting market cap hits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803136" y="914400"/>
            <a:ext cx="1993392" cy="3200400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803136" y="914400"/>
            <a:ext cx="1993392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894576" y="109728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0A500"/>
                </a:solidFill>
                <a:latin typeface="Georgia"/>
                <a:ea typeface="Georgia"/>
                <a:cs typeface="Georgia"/>
                <a:sym typeface="Georgia"/>
              </a:rPr>
              <a:t>66%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894576" y="192024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Boards now see cyber risk as a business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894576" y="292608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Gartner: Up from 8% in 2015 — momentum is real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0" y="4297680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57200" y="438912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BDD5EA"/>
                </a:solidFill>
                <a:latin typeface="Calibri"/>
                <a:ea typeface="Calibri"/>
                <a:cs typeface="Calibri"/>
                <a:sym typeface="Calibri"/>
              </a:rPr>
              <a:t>Cyber incidents are no longer IT problems — they are enterprise risk events with board-level consequences.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06805" y="4892048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QUANTIFYING RISK IN DOLLARS: THE FAIR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BDD5EA"/>
                </a:solidFill>
                <a:latin typeface="Calibri"/>
                <a:ea typeface="Calibri"/>
                <a:cs typeface="Calibri"/>
                <a:sym typeface="Calibri"/>
              </a:rPr>
              <a:t>FAIR = Factor Analysis of Information Risk — the standard for expressing cyber risk in financial terms.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65760" y="1261872"/>
            <a:ext cx="2286000" cy="914400"/>
          </a:xfrm>
          <a:prstGeom prst="rect">
            <a:avLst/>
          </a:prstGeom>
          <a:solidFill>
            <a:srgbClr val="E8611A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365760" y="1261872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Frequency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of Loss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670048" y="1463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A500"/>
                </a:solidFill>
                <a:latin typeface="Georgia"/>
                <a:ea typeface="Georgia"/>
                <a:cs typeface="Georgia"/>
                <a:sym typeface="Georgia"/>
              </a:rPr>
              <a:t>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154680" y="1261872"/>
            <a:ext cx="2286000" cy="914400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154680" y="1261872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BDD5EA"/>
                </a:solidFill>
                <a:latin typeface="Georgia"/>
                <a:ea typeface="Georgia"/>
                <a:cs typeface="Georgia"/>
                <a:sym typeface="Georgia"/>
              </a:rPr>
              <a:t>Magnitude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BDD5EA"/>
                </a:solidFill>
                <a:latin typeface="Georgia"/>
                <a:ea typeface="Georgia"/>
                <a:cs typeface="Georgia"/>
                <a:sym typeface="Georgia"/>
              </a:rPr>
              <a:t>of Loss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458968" y="1463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A500"/>
                </a:solidFill>
                <a:latin typeface="Georgia"/>
                <a:ea typeface="Georgia"/>
                <a:cs typeface="Georgia"/>
                <a:sym typeface="Georgia"/>
              </a:rPr>
              <a:t>=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943600" y="1261872"/>
            <a:ext cx="2834640" cy="914400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943600" y="1261872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Risk 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Financial Terms ($)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" name="Google Shape;106;p4"/>
          <p:cNvGraphicFramePr/>
          <p:nvPr/>
        </p:nvGraphicFramePr>
        <p:xfrm>
          <a:off x="365760" y="2331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{0162DAF9-1917-43F5-9F0A-668D1219B7A2}</a:tableStyleId>
              </a:tblPr>
              <a:tblGrid>
                <a:gridCol w="2103125"/>
                <a:gridCol w="2743200"/>
                <a:gridCol w="3566150"/>
              </a:tblGrid>
              <a:tr h="37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Loss Component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Example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</a:tr>
              <a:tr h="37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Productivity Loss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impact during downtime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E-commerce offline 6 hrs = $1.2M lost sales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</a:tr>
              <a:tr h="37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Response Costs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IR firm, forensics, overtime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Breach investigation: $450K–$800K typical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</a:tr>
              <a:tr h="37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Replacement Costs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Systems, data, software rebuild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Ransomware recovery: $500K–$4M average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</a:tr>
              <a:tr h="37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Fines &amp; Legal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Regulatory penalties, litigation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GDPR fine: up to 4% of global annual revenue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</a:tr>
              <a:tr h="37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Reputational Loss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 churn, brand damage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10–17% customer loss post-breach for 12 months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</a:tr>
              <a:tr h="37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Competitive Loss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theft, strategic advantage lost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Trade secret theft: years of R&amp;D compromised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</a:tr>
            </a:tbl>
          </a:graphicData>
        </a:graphic>
      </p:graphicFrame>
      <p:sp>
        <p:nvSpPr>
          <p:cNvPr id="107" name="Google Shape;107;p4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06805" y="4892048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RISK IN ACTION: RANSOMWARE SCENARIO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2A15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02920" y="850392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54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854E"/>
                </a:solidFill>
                <a:latin typeface="Calibri"/>
                <a:ea typeface="Calibri"/>
                <a:cs typeface="Calibri"/>
                <a:sym typeface="Calibri"/>
              </a:rPr>
              <a:t>Scenario: Ransomware attack on a mid-size healthcare company (3,000 employees, $500M revenue, 200K patient records)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65760" y="1444752"/>
            <a:ext cx="3840480" cy="3383280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65760" y="1444752"/>
            <a:ext cx="3840480" cy="365760"/>
          </a:xfrm>
          <a:prstGeom prst="rect">
            <a:avLst/>
          </a:prstGeom>
          <a:solidFill>
            <a:srgbClr val="6B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57200" y="148132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8080"/>
                </a:solidFill>
                <a:latin typeface="Calibri"/>
                <a:ea typeface="Calibri"/>
                <a:cs typeface="Calibri"/>
                <a:sym typeface="Calibri"/>
              </a:rPr>
              <a:t>WITHOUT CONTROLS  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02920" y="192024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Downtime Duration: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651760" y="19202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18–22 days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02920" y="2304288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Ransom Payment: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651760" y="230428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$2.1M average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02920" y="2688336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IR &amp; Recovery Cost: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651760" y="2688336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$3.4M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02920" y="3072384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HIPAA Fine: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651760" y="3072384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$1.9M–$5.5M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02920" y="3456432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Patient Notification: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2651760" y="3456432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$480K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02920" y="384048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Reputation / Churn: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651760" y="384048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$2.2M 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02920" y="4224528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Total Exposure: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651760" y="422452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$10.1M – $14.7M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937760" y="1444752"/>
            <a:ext cx="3840480" cy="3383280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937760" y="1444752"/>
            <a:ext cx="3840480" cy="365760"/>
          </a:xfrm>
          <a:prstGeom prst="rect">
            <a:avLst/>
          </a:prstGeom>
          <a:solidFill>
            <a:srgbClr val="0A3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5029200" y="148132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WITH CONTROLS  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074920" y="192024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Downtime Duration: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223760" y="19202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4–6 hours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074920" y="2304288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Ransom Payment: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223760" y="230428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$0 (offline backups)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074920" y="2688336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IR &amp; Recovery Cost: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223760" y="2688336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$280K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074920" y="3072384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HIPAA Fine: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223760" y="3072384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$0 – $120K (good faith)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074920" y="3456432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Patient Notification: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223760" y="3456432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$80K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074920" y="384048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Reputation / Churn: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223760" y="384048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$200K 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4920" y="4224528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Total Exposure: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7223760" y="422452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$360K – $600K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02920" y="4736592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Security Investment ROI:  Controls cost ~$420K/year → Avoided exposure $10M–$14M  =  24x–33x Return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06805" y="4892048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3 LANGUAGES OF CYBER RISK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DD5EA"/>
                </a:solidFill>
                <a:latin typeface="Calibri"/>
                <a:ea typeface="Calibri"/>
                <a:cs typeface="Calibri"/>
                <a:sym typeface="Calibri"/>
              </a:rPr>
              <a:t>One risk — three audiences — three completely different conversations: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74320" y="1170432"/>
            <a:ext cx="2816352" cy="3730752"/>
          </a:xfrm>
          <a:prstGeom prst="rect">
            <a:avLst/>
          </a:prstGeom>
          <a:solidFill>
            <a:srgbClr val="1E3A5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274320" y="1170432"/>
            <a:ext cx="2816352" cy="347472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" y="11978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685800" y="1188720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Technical Language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84048" y="1389888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SOC / Security 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57200" y="1664208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CVE-2024-3094 in liblzma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57200" y="2048256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CVSS: 10.0 — Remote Code Execution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57200" y="2432304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Affects OpenSSH via systemd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57200" y="2816352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14 internet-facing hosts vulnerable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57200" y="3200400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Lateral movement risk to domain controllers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57200" y="3584448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Priority: P0 — emergency patching required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227832" y="1170432"/>
            <a:ext cx="2816352" cy="3730752"/>
          </a:xfrm>
          <a:prstGeom prst="rect">
            <a:avLst/>
          </a:prstGeom>
          <a:solidFill>
            <a:srgbClr val="1E2D1A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3227832" y="1170432"/>
            <a:ext cx="2816352" cy="347472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11978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3639312" y="1188720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54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854E"/>
                </a:solidFill>
                <a:latin typeface="Calibri"/>
                <a:ea typeface="Calibri"/>
                <a:cs typeface="Calibri"/>
                <a:sym typeface="Calibri"/>
              </a:rPr>
              <a:t>Risk Language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337560" y="1389888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CISO / Risk Manager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410712" y="1664208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High-severity RCE in SSH infrastructure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410712" y="2048256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Likelihood: High (exploit in the wild)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410712" y="2432304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Impact: Full system compromise possible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410712" y="2816352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FAIR estimate: $4.2M–$8.5M loss exposure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410712" y="3200400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Controls gap: SSH not behind ZTNA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3410712" y="3584448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Recommended: Patch within 24 hours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181344" y="1170432"/>
            <a:ext cx="2816352" cy="3730752"/>
          </a:xfrm>
          <a:prstGeom prst="rect">
            <a:avLst/>
          </a:prstGeom>
          <a:solidFill>
            <a:srgbClr val="1E1A0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6181344" y="1170432"/>
            <a:ext cx="2816352" cy="347472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1072" y="11978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/>
          <p:nvPr/>
        </p:nvSpPr>
        <p:spPr>
          <a:xfrm>
            <a:off x="6592824" y="1188720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Business Language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291072" y="1389888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CEO / 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364224" y="1664208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 critical flaw could let attackers into our servers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364224" y="2048256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Attackers could steal customer data or shut us down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364224" y="2432304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Risk of regulatory fines + customer notification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364224" y="2816352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Estimated financial exposure: up to $8.5M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364224" y="3200400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Fix cost: $12K in engineer time over 24 hours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6364224" y="3584448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Action needed: Approve emergency patch window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06805" y="4892048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DEFINING RISK APPETITE FOR THE BOARD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274320" y="804672"/>
            <a:ext cx="2816352" cy="1353312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274320" y="804672"/>
            <a:ext cx="82296" cy="135331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38912" y="859536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0A500"/>
                </a:solidFill>
                <a:latin typeface="Georgia"/>
                <a:ea typeface="Georgia"/>
                <a:cs typeface="Georgia"/>
                <a:sym typeface="Georgia"/>
              </a:rPr>
              <a:t>Risk Appetite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38912" y="1170432"/>
            <a:ext cx="25786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The amount and type of risk the organization is willing to accept in pursuit of its objectives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227832" y="804672"/>
            <a:ext cx="2816352" cy="1353312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3227832" y="804672"/>
            <a:ext cx="82296" cy="1353312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3392424" y="859536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8611A"/>
                </a:solidFill>
                <a:latin typeface="Georgia"/>
                <a:ea typeface="Georgia"/>
                <a:cs typeface="Georgia"/>
                <a:sym typeface="Georgia"/>
              </a:rPr>
              <a:t>Risk Tolerance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392424" y="1170432"/>
            <a:ext cx="25786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The acceptable deviation from risk appetite — the upper boundary before action is mandated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181344" y="804672"/>
            <a:ext cx="2816352" cy="1353312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181344" y="804672"/>
            <a:ext cx="82296" cy="1353312"/>
          </a:xfrm>
          <a:prstGeom prst="rect">
            <a:avLst/>
          </a:prstGeom>
          <a:solidFill>
            <a:srgbClr val="F085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345936" y="859536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54E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0854E"/>
                </a:solidFill>
                <a:latin typeface="Georgia"/>
                <a:ea typeface="Georgia"/>
                <a:cs typeface="Georgia"/>
                <a:sym typeface="Georgia"/>
              </a:rPr>
              <a:t>Residual 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345936" y="1170432"/>
            <a:ext cx="25786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Risk remaining after controls are applied — this is what the board ultimately owns and accepts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BDD5EA"/>
                </a:solidFill>
                <a:latin typeface="Georgia"/>
                <a:ea typeface="Georgia"/>
                <a:cs typeface="Georgia"/>
                <a:sym typeface="Georgia"/>
              </a:rPr>
              <a:t>Risk Treatment Decision Framework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1" name="Google Shape;221;p7"/>
          <p:cNvGraphicFramePr/>
          <p:nvPr/>
        </p:nvGraphicFramePr>
        <p:xfrm>
          <a:off x="365760" y="26700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{0162DAF9-1917-43F5-9F0A-668D1219B7A2}</a:tableStyleId>
              </a:tblPr>
              <a:tblGrid>
                <a:gridCol w="1371600"/>
                <a:gridCol w="2286000"/>
                <a:gridCol w="2011675"/>
                <a:gridCol w="1737350"/>
                <a:gridCol w="1005850"/>
              </a:tblGrid>
              <a:tr h="46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Level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Impact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Board Action Required?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Treatment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Timeline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</a:tr>
              <a:tr h="46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6B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🔴 Critical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$5M+ exposure / existential threat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— immediate briefing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Mitigate or avoid immediately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24 hours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</a:tr>
              <a:tr h="46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A07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A0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🟠 High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$1M–$5M exposure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— next board meeting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Mitigate with funded plan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30 days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</a:tr>
              <a:tr h="46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70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🟡 Medium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A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$100K–$1M exposure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CISO discretion — inform if trending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Mitigate or transfer (insurance)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90 days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</a:tr>
              <a:tr h="46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EE9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0EE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🟢 Low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E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$100K exposure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— track in risk register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Accept or monitor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Annual review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7"/>
          <p:cNvSpPr/>
          <p:nvPr/>
        </p:nvSpPr>
        <p:spPr>
          <a:xfrm>
            <a:off x="365760" y="502920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100"/>
              <a:buFont typeface="Calibri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06805" y="4892048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CYBER RISK BUSINESS IMPACT CATEGORIES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274320" y="804672"/>
            <a:ext cx="2816352" cy="1993392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274320" y="804672"/>
            <a:ext cx="28163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" y="9326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/>
          <p:nvPr/>
        </p:nvSpPr>
        <p:spPr>
          <a:xfrm>
            <a:off x="731520" y="9144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0A500"/>
                </a:solidFill>
                <a:latin typeface="Georgia"/>
                <a:ea typeface="Georgia"/>
                <a:cs typeface="Georgia"/>
                <a:sym typeface="Georgia"/>
              </a:rPr>
              <a:t>Financial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84048" y="128016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Direct revenue loss during downtime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84048" y="1572768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Ransom payments &amp; recovery costs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84048" y="186537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Regulatory fines (GDPR: up to 4% global revenue)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84048" y="2157984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Legal fees, settlements, litigation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384048" y="2450592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Cyber insurance premium increases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227832" y="804672"/>
            <a:ext cx="2816352" cy="1993392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3227832" y="804672"/>
            <a:ext cx="2816352" cy="54864"/>
          </a:xfrm>
          <a:prstGeom prst="rect">
            <a:avLst/>
          </a:prstGeom>
          <a:solidFill>
            <a:srgbClr val="BDD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4" name="Google Shape;2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9326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8"/>
          <p:cNvSpPr/>
          <p:nvPr/>
        </p:nvSpPr>
        <p:spPr>
          <a:xfrm>
            <a:off x="3685032" y="9144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BDD5EA"/>
                </a:solidFill>
                <a:latin typeface="Georgia"/>
                <a:ea typeface="Georgia"/>
                <a:cs typeface="Georgia"/>
                <a:sym typeface="Georgia"/>
              </a:rPr>
              <a:t>Reputational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337560" y="128016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DD5E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Customer trust erosion &amp; churn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337560" y="1572768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DD5E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Brand damage lasting 12–36 months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337560" y="186537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DD5E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Media coverage &amp; social media fallout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337560" y="2157984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DD5E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Partner/supplier relationship damage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337560" y="2450592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DD5E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Talent acquisition &amp; retention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181344" y="804672"/>
            <a:ext cx="2816352" cy="1993392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6181344" y="804672"/>
            <a:ext cx="2816352" cy="54864"/>
          </a:xfrm>
          <a:prstGeom prst="rect">
            <a:avLst/>
          </a:prstGeom>
          <a:solidFill>
            <a:srgbClr val="F085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1072" y="9326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6638544" y="9144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54E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0854E"/>
                </a:solidFill>
                <a:latin typeface="Georgia"/>
                <a:ea typeface="Georgia"/>
                <a:cs typeface="Georgia"/>
                <a:sym typeface="Georgia"/>
              </a:rPr>
              <a:t>Regulatory &amp; Legal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291072" y="128016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54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854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GDPR / CCPA breach notification obligations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291072" y="1572768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54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854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SEC cyber disclosure requirements (public cos.)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291072" y="186537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54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854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HIPAA / PCI-DSS violation penalties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291072" y="2157984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54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854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D&amp;O liability exposure for executives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6291072" y="2450592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54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854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FTC enforcement 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274320" y="2953512"/>
            <a:ext cx="2816352" cy="1993392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274320" y="2953512"/>
            <a:ext cx="28163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4048" y="3081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8"/>
          <p:cNvSpPr/>
          <p:nvPr/>
        </p:nvSpPr>
        <p:spPr>
          <a:xfrm>
            <a:off x="731520" y="30632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Georgia"/>
                <a:ea typeface="Georgia"/>
                <a:cs typeface="Georgia"/>
                <a:sym typeface="Georgia"/>
              </a:rPr>
              <a:t>Operational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84048" y="342900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Business process disruption &amp; downtime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384048" y="3721608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Supply chain / partner cascade effects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384048" y="401421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Loss of intellectual property / trade secrets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84048" y="4306824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Employee productivity loss during incident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384048" y="4599432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Critical infrastructure failure (OT/ICS)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3227832" y="2953512"/>
            <a:ext cx="2816352" cy="1993392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3227832" y="2953512"/>
            <a:ext cx="28163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7560" y="3081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"/>
          <p:cNvSpPr/>
          <p:nvPr/>
        </p:nvSpPr>
        <p:spPr>
          <a:xfrm>
            <a:off x="3685032" y="30632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Strategic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337560" y="342900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Competitive intelligence stolen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3337560" y="3721608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M&amp;A process compromised or derailed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3337560" y="401421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Long-term market position erosion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3337560" y="4306824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Board &amp; executive confidence loss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3337560" y="4599432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Investor &amp; analyst confidence decline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6181344" y="2953512"/>
            <a:ext cx="2816352" cy="1993392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6181344" y="2953512"/>
            <a:ext cx="2816352" cy="54864"/>
          </a:xfrm>
          <a:prstGeom prst="rect">
            <a:avLst/>
          </a:prstGeom>
          <a:solidFill>
            <a:srgbClr val="8CA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91072" y="3081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/>
          <p:nvPr/>
        </p:nvSpPr>
        <p:spPr>
          <a:xfrm>
            <a:off x="6638544" y="30632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8CA9BE"/>
                </a:solidFill>
                <a:latin typeface="Georgia"/>
                <a:ea typeface="Georgia"/>
                <a:cs typeface="Georgia"/>
                <a:sym typeface="Georgia"/>
              </a:rPr>
              <a:t>Compliance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6291072" y="342900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Audit failure &amp; certification loss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6291072" y="3721608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Contractual breach with clients/vendors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6291072" y="401421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Government contract eligibility loss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291072" y="4306824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SOC 2 / ISO 27001 certification at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6291072" y="4599432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Required security uplift obligations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16618" y="470000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49093" y="4859898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PRESENTING CYBER RISK TO THE BOARD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320040" y="804672"/>
            <a:ext cx="3977640" cy="384048"/>
          </a:xfrm>
          <a:prstGeom prst="rect">
            <a:avLst/>
          </a:prstGeom>
          <a:solidFill>
            <a:srgbClr val="0A3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411480" y="841248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✔  WHAT WORKS WITH BOARDS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4846320" y="804672"/>
            <a:ext cx="3977640" cy="384048"/>
          </a:xfrm>
          <a:prstGeom prst="rect">
            <a:avLst/>
          </a:prstGeom>
          <a:solidFill>
            <a:srgbClr val="3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4937760" y="841248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✖  WHAT FAILS WITH BOARDS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320040" y="1298448"/>
            <a:ext cx="3977640" cy="438912"/>
          </a:xfrm>
          <a:prstGeom prst="rect">
            <a:avLst/>
          </a:prstGeom>
          <a:solidFill>
            <a:srgbClr val="1523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438912" y="1316736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Lead with risk in dollars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438912" y="149961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"This vulnerability creates $4M–$8M exposure"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320040" y="1792224"/>
            <a:ext cx="3977640" cy="438912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438912" y="1810512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Tell a story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438912" y="199339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"An attacker could reach our payment systems in 3 hops"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320040" y="2286000"/>
            <a:ext cx="3977640" cy="438912"/>
          </a:xfrm>
          <a:prstGeom prst="rect">
            <a:avLst/>
          </a:prstGeom>
          <a:solidFill>
            <a:srgbClr val="1523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438912" y="2304288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Connect to strategy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38912" y="248716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"This risk could delay our cloud migration by 6 months"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320040" y="2779776"/>
            <a:ext cx="3977640" cy="438912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438912" y="2798064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Show trend, not just point-in-time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38912" y="298094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"MTTD improved 40% vs. last quarter"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320040" y="3273552"/>
            <a:ext cx="3977640" cy="438912"/>
          </a:xfrm>
          <a:prstGeom prst="rect">
            <a:avLst/>
          </a:prstGeom>
          <a:solidFill>
            <a:srgbClr val="1523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438912" y="329184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Ask for a specific decision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438912" y="347472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"We need $250K approved to close this gap"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320040" y="3767328"/>
            <a:ext cx="3977640" cy="438912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438912" y="3785616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Benchmark vs peers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38912" y="396849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"Our sector's median breach cost is $6.2M"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320040" y="4261104"/>
            <a:ext cx="3977640" cy="438912"/>
          </a:xfrm>
          <a:prstGeom prst="rect">
            <a:avLst/>
          </a:prstGeom>
          <a:solidFill>
            <a:srgbClr val="1523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438912" y="4279392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Use plain language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38912" y="446227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"A flaw lets outsiders access internal systems"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4846320" y="1298448"/>
            <a:ext cx="3977640" cy="438912"/>
          </a:xfrm>
          <a:prstGeom prst="rect">
            <a:avLst/>
          </a:prstGeom>
          <a:solidFill>
            <a:srgbClr val="1523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4965192" y="1316736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Lead with CVE counts or CVSS scores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965192" y="149961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"We have 847 highs and 14 criticals"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846320" y="1792224"/>
            <a:ext cx="3977640" cy="438912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4965192" y="1810512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Use unexplained jargon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4965192" y="199339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"Our EDR detected lateral movement via PtH"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846320" y="2286000"/>
            <a:ext cx="3977640" cy="438912"/>
          </a:xfrm>
          <a:prstGeom prst="rect">
            <a:avLst/>
          </a:prstGeom>
          <a:solidFill>
            <a:srgbClr val="1523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4965192" y="2304288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Present without asking for anything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965192" y="248716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"Just an update — everything is being handled"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846320" y="2779776"/>
            <a:ext cx="3977640" cy="438912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4965192" y="2798064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Show only bad news without context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965192" y="298094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"We had 3 incidents this quarter" (with no comparison)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846320" y="3273552"/>
            <a:ext cx="3977640" cy="438912"/>
          </a:xfrm>
          <a:prstGeom prst="rect">
            <a:avLst/>
          </a:prstGeom>
          <a:solidFill>
            <a:srgbClr val="1523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4965192" y="329184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Over-complicate with too many metrics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965192" y="347472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12-slide technical dashboards overwhelm boards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846320" y="3767328"/>
            <a:ext cx="3977640" cy="438912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4965192" y="3785616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Hide material risks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965192" y="396849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Boards have fiduciary duty — omission = liability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846320" y="4261104"/>
            <a:ext cx="3977640" cy="438912"/>
          </a:xfrm>
          <a:prstGeom prst="rect">
            <a:avLst/>
          </a:prstGeom>
          <a:solidFill>
            <a:srgbClr val="1523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4965192" y="4279392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Surprise the board in a crisis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965192" y="446227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Pre-brief the chair before any major disclosure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9"/>
          <p:cNvCxnSpPr/>
          <p:nvPr/>
        </p:nvCxnSpPr>
        <p:spPr>
          <a:xfrm>
            <a:off x="4325112" y="804672"/>
            <a:ext cx="0" cy="4242816"/>
          </a:xfrm>
          <a:prstGeom prst="straightConnector1">
            <a:avLst/>
          </a:prstGeom>
          <a:noFill/>
          <a:ln cap="flat" cmpd="sng" w="1905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9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606805" y="4892048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5-STEP TRANSLATION FRAMEWORK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320040" y="822960"/>
            <a:ext cx="8503920" cy="768096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320040" y="822960"/>
            <a:ext cx="658368" cy="7680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320040" y="822960"/>
            <a:ext cx="65836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1042416" y="877824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Georgia"/>
                <a:ea typeface="Georgia"/>
                <a:cs typeface="Georgia"/>
                <a:sym typeface="Georgia"/>
              </a:rPr>
              <a:t>Identify the Threat Scenario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1042416" y="1152144"/>
            <a:ext cx="7635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WHAT: Define a realistic, named attack scenario relevant to your business (ransomware, data breach, supply chain attack)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1042416" y="1353312"/>
            <a:ext cx="7635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HOW: Use threat intelligence + MITRE ATT&amp;CK to ground the scenario in real-world adversary behavior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320040" y="1664208"/>
            <a:ext cx="8503920" cy="768096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320040" y="1664208"/>
            <a:ext cx="658368" cy="768096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320040" y="1664208"/>
            <a:ext cx="65836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1042416" y="171907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8611A"/>
                </a:solidFill>
                <a:latin typeface="Georgia"/>
                <a:ea typeface="Georgia"/>
                <a:cs typeface="Georgia"/>
                <a:sym typeface="Georgia"/>
              </a:rPr>
              <a:t>Map to Business Assets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042416" y="1993392"/>
            <a:ext cx="7635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WHAT: Identify which business processes, revenue streams, or regulated data are at risk from this scenario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1042416" y="2194560"/>
            <a:ext cx="7635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HOW: Link technical assets (servers, databases) to the business functions they support (sales, patient care, payments)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320040" y="2505456"/>
            <a:ext cx="8503920" cy="768096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320040" y="2505456"/>
            <a:ext cx="658368" cy="7680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320040" y="2505456"/>
            <a:ext cx="65836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1042416" y="256032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Quantify the Financial Impact (FAIR)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1042416" y="2834640"/>
            <a:ext cx="7635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WHAT: Estimate the probable financial loss range using FAIR: frequency × magnitude with realistic ranges (min/max/most likely)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1042416" y="3035808"/>
            <a:ext cx="7635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HOW: Include: downtime revenue loss, recovery costs, fines, notification costs, customer churn, reputation impact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320040" y="3346704"/>
            <a:ext cx="8503920" cy="768096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320040" y="3346704"/>
            <a:ext cx="658368" cy="76809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320040" y="3346704"/>
            <a:ext cx="65836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1042416" y="3401568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0A500"/>
                </a:solidFill>
                <a:latin typeface="Georgia"/>
                <a:ea typeface="Georgia"/>
                <a:cs typeface="Georgia"/>
                <a:sym typeface="Georgia"/>
              </a:rPr>
              <a:t>Compare Cost of Risk vs Cost of 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1042416" y="3675888"/>
            <a:ext cx="7635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WHAT: Present the investment required to reduce the risk vs. the expected loss reduction (risk-adjusted ROI)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1042416" y="3877056"/>
            <a:ext cx="7635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HOW: "$300K in controls reduces $8M exposure by 70% = $5.6M risk reduction for $300K spend"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320040" y="4187952"/>
            <a:ext cx="8503920" cy="768096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320040" y="4187952"/>
            <a:ext cx="658368" cy="7680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320040" y="4187952"/>
            <a:ext cx="65836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1042416" y="4242816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Georgia"/>
                <a:ea typeface="Georgia"/>
                <a:cs typeface="Georgia"/>
                <a:sym typeface="Georgia"/>
              </a:rPr>
              <a:t>Request a Decision — Not Just an Update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1042416" y="4517136"/>
            <a:ext cx="7635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WHAT: End every board risk discussion with a specific, actionable decision request with 2–3 clear options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1042416" y="4718304"/>
            <a:ext cx="7635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HOW: Option A: Fund mitigation ($300K). Option B: Transfer risk (insurance, +$85K/year). Option C: Accept risk (document). Board decides.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606805" y="4892048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EXECUTIVE CYBER RISK DASHBOARD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274320" y="804672"/>
            <a:ext cx="2011680" cy="1325880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274320" y="804672"/>
            <a:ext cx="20116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365760" y="93268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Georgia"/>
                <a:ea typeface="Georgia"/>
                <a:cs typeface="Georgia"/>
                <a:sym typeface="Georgia"/>
              </a:rPr>
              <a:t>$6.2M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347472" y="150876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Risk Exposure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347472" y="1783080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▲ +12% vs Q2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2450592" y="804672"/>
            <a:ext cx="2011680" cy="1325880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2450592" y="804672"/>
            <a:ext cx="20116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2542032" y="93268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$1.4M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2523744" y="150876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Residual Risk after Controls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2523744" y="1783080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▼ -8% vs Q2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4626864" y="804672"/>
            <a:ext cx="2011680" cy="1325880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4626864" y="804672"/>
            <a:ext cx="20116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4718304" y="93268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22C55E"/>
                </a:solidFill>
                <a:latin typeface="Georgia"/>
                <a:ea typeface="Georgia"/>
                <a:cs typeface="Georgia"/>
                <a:sym typeface="Georgia"/>
              </a:rPr>
              <a:t>8.3x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4700016" y="150876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ROI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4700016" y="1783080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▲ +0.6x vs Q2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6803136" y="804672"/>
            <a:ext cx="2011680" cy="1325880"/>
          </a:xfrm>
          <a:prstGeom prst="rect">
            <a:avLst/>
          </a:prstGeom>
          <a:solidFill>
            <a:srgbClr val="1523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6803136" y="804672"/>
            <a:ext cx="201168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6894576" y="93268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A500"/>
                </a:solidFill>
                <a:latin typeface="Georgia"/>
                <a:ea typeface="Georgia"/>
                <a:cs typeface="Georgia"/>
                <a:sym typeface="Georgia"/>
              </a:rPr>
              <a:t>4.2 hrs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6876288" y="150876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Time to Detect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6876288" y="1783080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9B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CA9BE"/>
                </a:solidFill>
                <a:latin typeface="Calibri"/>
                <a:ea typeface="Calibri"/>
                <a:cs typeface="Calibri"/>
                <a:sym typeface="Calibri"/>
              </a:rPr>
              <a:t>▼ -78% vs Q1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365760" y="226771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E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BDD5EA"/>
                </a:solidFill>
                <a:latin typeface="Georgia"/>
                <a:ea typeface="Georgia"/>
                <a:cs typeface="Georgia"/>
                <a:sym typeface="Georgia"/>
              </a:rPr>
              <a:t>Top 5 Enterprise Risk Register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5" name="Google Shape;415;p11"/>
          <p:cNvGraphicFramePr/>
          <p:nvPr/>
        </p:nvGraphicFramePr>
        <p:xfrm>
          <a:off x="320040" y="2606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{0162DAF9-1917-43F5-9F0A-668D1219B7A2}</a:tableStyleId>
              </a:tblPr>
              <a:tblGrid>
                <a:gridCol w="3200400"/>
                <a:gridCol w="1645925"/>
                <a:gridCol w="1828800"/>
                <a:gridCol w="1828800"/>
              </a:tblGrid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Scenario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Likelihood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 Estimate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Ransomware via phishing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08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(68%)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$4.8M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Third-party data breach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7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 (42%)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$2.1M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A5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A5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Transferring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Insider data exfiltration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EE9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90EE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(18%)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$1.4M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Monitoring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misconfiguration breach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7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 (35%)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$900K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2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email compromise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08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(55%)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$680K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A9B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CA9B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Accepting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336"/>
                    </a:solidFill>
                  </a:tcPr>
                </a:tc>
              </a:tr>
            </a:tbl>
          </a:graphicData>
        </a:graphic>
      </p:graphicFrame>
      <p:sp>
        <p:nvSpPr>
          <p:cNvPr id="416" name="Google Shape;416;p11"/>
          <p:cNvSpPr/>
          <p:nvPr/>
        </p:nvSpPr>
        <p:spPr>
          <a:xfrm>
            <a:off x="457200" y="501091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606805" y="4892048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4" name="Google Shape;424;p12"/>
          <p:cNvPicPr preferRelativeResize="0"/>
          <p:nvPr/>
        </p:nvPicPr>
        <p:blipFill rotWithShape="1">
          <a:blip r:embed="rId3">
            <a:alphaModFix amt="40000"/>
          </a:blip>
          <a:srcRect b="0" l="0" r="0" t="0"/>
          <a:stretch/>
        </p:blipFill>
        <p:spPr>
          <a:xfrm>
            <a:off x="4572000" y="365760"/>
            <a:ext cx="4389120" cy="438912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1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457200" y="3657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457200" y="731520"/>
            <a:ext cx="5943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Cyber Risk is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Business Risk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420624" y="2212848"/>
            <a:ext cx="329184" cy="329184"/>
          </a:xfrm>
          <a:prstGeom prst="ellipse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2311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2"/>
          <p:cNvSpPr/>
          <p:nvPr/>
        </p:nvSpPr>
        <p:spPr>
          <a:xfrm>
            <a:off x="859536" y="2212848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Always quantify risk in financial terms — FAIR gives you the language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420624" y="2734056"/>
            <a:ext cx="329184" cy="329184"/>
          </a:xfrm>
          <a:prstGeom prst="ellipse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2" name="Google Shape;43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27523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2"/>
          <p:cNvSpPr/>
          <p:nvPr/>
        </p:nvSpPr>
        <p:spPr>
          <a:xfrm>
            <a:off x="859536" y="2734056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Show trend over time — boards need direction, not just a snapshot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20624" y="3255264"/>
            <a:ext cx="329184" cy="329184"/>
          </a:xfrm>
          <a:prstGeom prst="ellipse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5" name="Google Shape;43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32735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2"/>
          <p:cNvSpPr/>
          <p:nvPr/>
        </p:nvSpPr>
        <p:spPr>
          <a:xfrm>
            <a:off x="859536" y="3255264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Know your audience — translate before you communicate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420624" y="3776472"/>
            <a:ext cx="329184" cy="329184"/>
          </a:xfrm>
          <a:prstGeom prst="ellipse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8" name="Google Shape;438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37947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2"/>
          <p:cNvSpPr/>
          <p:nvPr/>
        </p:nvSpPr>
        <p:spPr>
          <a:xfrm>
            <a:off x="859536" y="3776472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Always end with a decision request — not just a status update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420624" y="4297680"/>
            <a:ext cx="329184" cy="329184"/>
          </a:xfrm>
          <a:prstGeom prst="ellipse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" y="43159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2"/>
          <p:cNvSpPr/>
          <p:nvPr/>
        </p:nvSpPr>
        <p:spPr>
          <a:xfrm>
            <a:off x="859536" y="4297680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Security is a business enabler — position it as investment, not cost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16618" y="4754875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349093" y="491477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2026-04-09T11:57:51Z</dcterms:created>
  <dc:creator>Accredian</dc:creator>
</cp:coreProperties>
</file>