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5rl8IswNctKL7XT/sHvzoLPI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079992" y="0"/>
            <a:ext cx="64008" cy="3200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943600" y="914400"/>
            <a:ext cx="457200" cy="457200"/>
          </a:xfrm>
          <a:prstGeom prst="rect">
            <a:avLst/>
          </a:prstGeom>
          <a:solidFill>
            <a:srgbClr val="2D2D5E">
              <a:alpha val="40000"/>
            </a:srgbClr>
          </a:solidFill>
          <a:ln cap="flat" cmpd="sng" w="9525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583680" y="1280160"/>
            <a:ext cx="457200" cy="457200"/>
          </a:xfrm>
          <a:prstGeom prst="rect">
            <a:avLst/>
          </a:prstGeom>
          <a:solidFill>
            <a:srgbClr val="2D2D5E">
              <a:alpha val="40000"/>
            </a:srgbClr>
          </a:solidFill>
          <a:ln cap="flat" cmpd="sng" w="9525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solidFill>
            <a:srgbClr val="2D2D5E">
              <a:alpha val="40000"/>
            </a:srgbClr>
          </a:solidFill>
          <a:ln cap="flat" cmpd="sng" w="9525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863840" y="2011680"/>
            <a:ext cx="457200" cy="457200"/>
          </a:xfrm>
          <a:prstGeom prst="rect">
            <a:avLst/>
          </a:prstGeom>
          <a:solidFill>
            <a:srgbClr val="2D2D5E">
              <a:alpha val="40000"/>
            </a:srgbClr>
          </a:solidFill>
          <a:ln cap="flat" cmpd="sng" w="9525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503920" y="2377440"/>
            <a:ext cx="457200" cy="457200"/>
          </a:xfrm>
          <a:prstGeom prst="rect">
            <a:avLst/>
          </a:prstGeom>
          <a:solidFill>
            <a:srgbClr val="2D2D5E">
              <a:alpha val="40000"/>
            </a:srgbClr>
          </a:solidFill>
          <a:ln cap="flat" cmpd="sng" w="9525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20040" y="274320"/>
            <a:ext cx="640080" cy="2743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20040" y="2743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74320" y="9144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RANSOMWARE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" y="19202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The Business Model of Cybercrime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37160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274320" y="2651760"/>
            <a:ext cx="365760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74320" y="28346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How criminal organizations have turned cyber extortion into a multi-billion dollar industry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Cybersecurity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286000" y="3657600"/>
            <a:ext cx="1828800" cy="320040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2286000" y="3657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Threat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297680" y="3657600"/>
            <a:ext cx="1828800" cy="320040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4297680" y="3657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Business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Scale of the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Why ransomware is a crisis that demands 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0" y="100584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43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$20B+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7432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Global damages in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143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3200400" y="16916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3B30"/>
                </a:solidFill>
                <a:latin typeface="Arial Black"/>
                <a:ea typeface="Arial Black"/>
                <a:cs typeface="Arial Black"/>
                <a:sym typeface="Arial Black"/>
              </a:rPr>
              <a:t>66%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of organizations hit in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126480" y="100584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143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6126480" y="1691640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21 Days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12648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Average downtime per attack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Ransomware Damages Over Time (USD Billions)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14400" y="4617720"/>
            <a:ext cx="731520" cy="45720"/>
          </a:xfrm>
          <a:prstGeom prst="rect">
            <a:avLst/>
          </a:prstGeom>
          <a:solidFill>
            <a:srgbClr val="FF3B30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914400" y="43891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$0.8B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1440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103120" y="4577715"/>
            <a:ext cx="731520" cy="85725"/>
          </a:xfrm>
          <a:prstGeom prst="rect">
            <a:avLst/>
          </a:prstGeom>
          <a:solidFill>
            <a:srgbClr val="FF3B3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103120" y="434911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$1.5B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10312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291840" y="4434840"/>
            <a:ext cx="731520" cy="228600"/>
          </a:xfrm>
          <a:prstGeom prst="rect">
            <a:avLst/>
          </a:prstGeom>
          <a:solidFill>
            <a:srgbClr val="FF3B30">
              <a:alpha val="4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291840" y="42062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$4B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9184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480560" y="4206240"/>
            <a:ext cx="731520" cy="457200"/>
          </a:xfrm>
          <a:prstGeom prst="rect">
            <a:avLst/>
          </a:prstGeom>
          <a:solidFill>
            <a:srgbClr val="FF3B30">
              <a:alpha val="5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480560" y="39776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$8B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48056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669280" y="3920490"/>
            <a:ext cx="731520" cy="742950"/>
          </a:xfrm>
          <a:prstGeom prst="rect">
            <a:avLst/>
          </a:prstGeom>
          <a:solidFill>
            <a:srgbClr val="FF3B30">
              <a:alpha val="7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5669280" y="369189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$13B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66928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858000" y="3520440"/>
            <a:ext cx="731520" cy="11430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858000" y="32918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$20B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858000" y="470916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74330" y="48417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Anatomy of an Attack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The 7-stage kill chain every attacker follows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4320" y="96012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68680" y="10149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Reconnaissance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68680" y="1280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Target research, vulnerability scanning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331720" y="1618488"/>
            <a:ext cx="91440" cy="118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74320" y="173736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74320" y="1737360"/>
            <a:ext cx="502920" cy="658368"/>
          </a:xfrm>
          <a:prstGeom prst="rect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74320" y="173736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68680" y="179222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68680" y="20574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Phishing, RDP brute force, exploit kits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331720" y="2395728"/>
            <a:ext cx="91440" cy="1188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74320" y="251460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274320" y="2514600"/>
            <a:ext cx="502920" cy="658368"/>
          </a:xfrm>
          <a:prstGeom prst="rect">
            <a:avLst/>
          </a:prstGeom>
          <a:solidFill>
            <a:srgbClr val="FF6B3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274320" y="251460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68680" y="25694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868680" y="28346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Backdoors, scheduled tasks, registry keys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331720" y="3172968"/>
            <a:ext cx="91440" cy="1188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74320" y="329184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74320" y="3291840"/>
            <a:ext cx="502920" cy="658368"/>
          </a:xfrm>
          <a:prstGeom prst="rect">
            <a:avLst/>
          </a:prstGeom>
          <a:solidFill>
            <a:srgbClr val="FF6B3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74320" y="329184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68680" y="33467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Lateral Movement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68680" y="36118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Network traversal, credential harvesting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937760" y="96012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937760" y="960120"/>
            <a:ext cx="502920" cy="658368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937760" y="96012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532120" y="10149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Exfiltration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532120" y="1280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Sensitive data stolen before encryption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937760" y="173736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937760" y="1737360"/>
            <a:ext cx="502920" cy="658368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937760" y="173736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532120" y="179222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532120" y="20574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Files locked with military-grade AES-256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937760" y="2514600"/>
            <a:ext cx="4297680" cy="658368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937760" y="2514600"/>
            <a:ext cx="502920" cy="658368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937760" y="251460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532120" y="25694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Ransom Demand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532120" y="28346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Bitcoin payment ultimatum + deadline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617720" y="1280160"/>
            <a:ext cx="320040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85800" y="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Ransomware-as-a-Service (RaaS)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The franchise model of cybercrime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274320" y="914400"/>
            <a:ext cx="411480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57200" y="1005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D600"/>
                </a:solidFill>
                <a:latin typeface="Arial Black"/>
                <a:ea typeface="Arial Black"/>
                <a:cs typeface="Arial Black"/>
                <a:sym typeface="Arial Black"/>
              </a:rPr>
              <a:t>THE RaaS ECOSYSTEM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11480" y="1417320"/>
            <a:ext cx="64008" cy="5303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48640" y="143560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48640" y="16733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Build &amp; maintain the ransomware platform. Provide admin panel, encryption engine, payment portal.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11480" y="2167128"/>
            <a:ext cx="64008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48640" y="218541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Affiliates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48640" y="2423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Licensed operators who deploy attacks. Pay 20-30% revenue share to developers.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11480" y="2916936"/>
            <a:ext cx="64008" cy="5303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293522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Brokers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31729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Sell stolen credentials &amp; network access to affiliates on dark web marketplaces.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11480" y="3666744"/>
            <a:ext cx="64008" cy="5303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40" y="368503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Money Mules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39227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Convert cryptocurrency payments to untraceable cash through layered transactions.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663440" y="914400"/>
            <a:ext cx="42062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NOTABLE RaaS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800600" y="1417320"/>
            <a:ext cx="3931920" cy="64008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937760" y="14630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LockBit 3.0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132320" y="1472184"/>
            <a:ext cx="1463040" cy="237744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7132320" y="147218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~$91M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937760" y="17282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World's most prolific RaaS. 1,700+ victims. $91M extracted from US alone.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800600" y="2194560"/>
            <a:ext cx="3931920" cy="64008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937760" y="22402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BlackCat (ALPHV)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132320" y="2249424"/>
            <a:ext cx="1463040" cy="237744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132320" y="224942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~$300M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937760" y="250545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Rust-based ransomware. Pioneered triple extortion model.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800600" y="2971800"/>
            <a:ext cx="3931920" cy="64008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937760" y="30175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Cl0p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132320" y="3026664"/>
            <a:ext cx="1463040" cy="237744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132320" y="302666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~$75M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937760" y="32826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Mass-exploitation specialists. MOVEit attack hit 2,000+ organizations.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800600" y="3749040"/>
            <a:ext cx="3931920" cy="64008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4937760" y="379476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Royal/BlackSuit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132320" y="3803904"/>
            <a:ext cx="1463040" cy="237744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7132320" y="380390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~$60M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937760" y="40599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Successor to Conti. Targets critical infrastructure.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Money Trail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How ransom payments flow through the criminal ecosystem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4320" y="1005840"/>
            <a:ext cx="1645920" cy="1371600"/>
          </a:xfrm>
          <a:prstGeom prst="rect">
            <a:avLst/>
          </a:prstGeom>
          <a:solidFill>
            <a:srgbClr val="1A1A35"/>
          </a:solidFill>
          <a:ln cap="flat" cmpd="sng" w="1905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274320" y="1005840"/>
            <a:ext cx="164592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27432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Victim Pays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274320" y="1600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Bitcoin/Monero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to wallet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920240" y="1645920"/>
            <a:ext cx="5486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2194560" y="1508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2194560" y="1005840"/>
            <a:ext cx="1645920" cy="1371600"/>
          </a:xfrm>
          <a:prstGeom prst="rect">
            <a:avLst/>
          </a:prstGeom>
          <a:solidFill>
            <a:srgbClr val="1A1A35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2194560" y="1005840"/>
            <a:ext cx="1645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219456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Mixer/Tumbler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194560" y="1600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Obfuscates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transaction trail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840480" y="1645920"/>
            <a:ext cx="5486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4114800" y="1508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114800" y="1005840"/>
            <a:ext cx="1645920" cy="1371600"/>
          </a:xfrm>
          <a:prstGeom prst="rect">
            <a:avLst/>
          </a:prstGeom>
          <a:solidFill>
            <a:srgbClr val="1A1A35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4114800" y="1005840"/>
            <a:ext cx="16459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411480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114800" y="1600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Crypto converted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to fiat currency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5760720" y="1645920"/>
            <a:ext cx="54864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035040" y="1508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035040" y="1005840"/>
            <a:ext cx="1645920" cy="1371600"/>
          </a:xfrm>
          <a:prstGeom prst="rect">
            <a:avLst/>
          </a:prstGeom>
          <a:solidFill>
            <a:srgbClr val="1A1A35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6035040" y="1005840"/>
            <a:ext cx="16459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03504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Shell Companies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035040" y="1600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Layered through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multiple entities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680960" y="1645920"/>
            <a:ext cx="54864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7955280" y="1508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7772400" y="1005840"/>
            <a:ext cx="1645920" cy="1371600"/>
          </a:xfrm>
          <a:prstGeom prst="rect">
            <a:avLst/>
          </a:prstGeom>
          <a:solidFill>
            <a:srgbClr val="1A1A35"/>
          </a:solidFill>
          <a:ln cap="flat" cmpd="sng" w="1905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7772400" y="1005840"/>
            <a:ext cx="164592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777240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Cash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7772400" y="1600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Criminal profits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extracted globally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274320" y="2651760"/>
            <a:ext cx="8595360" cy="196596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27432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FF88"/>
                </a:solidFill>
                <a:latin typeface="Calibri"/>
                <a:ea typeface="Calibri"/>
                <a:cs typeface="Calibri"/>
                <a:sym typeface="Calibri"/>
              </a:rPr>
              <a:t>KEY FINANCIAL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906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868680" y="30632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FF88"/>
                </a:solidFill>
                <a:latin typeface="Arial Black"/>
                <a:ea typeface="Arial Black"/>
                <a:cs typeface="Arial Black"/>
                <a:sym typeface="Arial Black"/>
              </a:rPr>
              <a:t>74%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57200" y="349300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of ransomware revenue goes to groups with Russian-language affiliates (Chainalysis 2023)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30906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/>
          <p:nvPr/>
        </p:nvSpPr>
        <p:spPr>
          <a:xfrm>
            <a:off x="3749040" y="30632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FF88"/>
                </a:solidFill>
                <a:latin typeface="Arial Black"/>
                <a:ea typeface="Arial Black"/>
                <a:cs typeface="Arial Black"/>
                <a:sym typeface="Arial Black"/>
              </a:rPr>
              <a:t>$1.1B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3337560" y="349300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Cryptocurrency paid to ransomware attackers in 2023 — a record 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30906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/>
          <p:nvPr/>
        </p:nvSpPr>
        <p:spPr>
          <a:xfrm>
            <a:off x="6629400" y="30632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0FF88"/>
                </a:solidFill>
                <a:latin typeface="Arial Black"/>
                <a:ea typeface="Arial Black"/>
                <a:cs typeface="Arial Black"/>
                <a:sym typeface="Arial Black"/>
              </a:rPr>
              <a:t>46%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217920" y="349300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of victims pay the ransom — and only 65% of those fully recover their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Targets &amp; Tactics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Who attackers target and how they maximize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45720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MOST TARGETED SECTORS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57200" y="1417320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57200" y="16459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1,410 attacks in 2023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57200" y="1856232"/>
            <a:ext cx="3474720" cy="10972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457200" y="1856232"/>
            <a:ext cx="2710282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3977640" y="181965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78%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457200" y="2093976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57200" y="232257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225 US entities in 2023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457200" y="2532888"/>
            <a:ext cx="3474720" cy="10972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57200" y="2532888"/>
            <a:ext cx="225856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3977640" y="249631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57200" y="27706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457200" y="299923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Avg. recovery cost $3.5M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57200" y="3209544"/>
            <a:ext cx="3474720" cy="10972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457200" y="3209544"/>
            <a:ext cx="2779776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3977640" y="31729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457200" y="344728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457200" y="367588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OT/ICS increasingly targeted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57200" y="3886200"/>
            <a:ext cx="3474720" cy="10972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457200" y="3886200"/>
            <a:ext cx="2467051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3977640" y="384962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57200" y="412394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Svcs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57200" y="435254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Avg ransom demand $9.7M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57200" y="4562856"/>
            <a:ext cx="3474720" cy="109728"/>
          </a:xfrm>
          <a:prstGeom prst="rect">
            <a:avLst/>
          </a:prstGeom>
          <a:solidFill>
            <a:srgbClr val="2D2D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457200" y="4562856"/>
            <a:ext cx="1911096" cy="10972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3977640" y="452628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FF88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4663440" y="914400"/>
            <a:ext cx="420624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4846320" y="1005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EXTORTION EVOLUTION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800600" y="1417320"/>
            <a:ext cx="3931920" cy="713232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A0AE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8549640" y="1417320"/>
            <a:ext cx="457200" cy="713232"/>
          </a:xfrm>
          <a:prstGeom prst="rect">
            <a:avLst/>
          </a:prstGeom>
          <a:solidFill>
            <a:srgbClr val="A0AEC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8549640" y="141732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4937760" y="14630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Single Extortion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937760" y="1737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Encrypt files + demand ransom for decryption key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4800600" y="2240280"/>
            <a:ext cx="3931920" cy="713232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8549640" y="2240280"/>
            <a:ext cx="457200" cy="713232"/>
          </a:xfrm>
          <a:prstGeom prst="rect">
            <a:avLst/>
          </a:prstGeom>
          <a:solidFill>
            <a:srgbClr val="00D4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8549640" y="224028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4937760" y="22860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Double Extortion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Encrypt AND steal data. Pay or we publish.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00600" y="3063240"/>
            <a:ext cx="3931920" cy="713232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8549640" y="3063240"/>
            <a:ext cx="457200" cy="713232"/>
          </a:xfrm>
          <a:prstGeom prst="rect">
            <a:avLst/>
          </a:prstGeom>
          <a:solidFill>
            <a:srgbClr val="FF6B3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8549640" y="306324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937760" y="31089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Triple Extortion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4937760" y="3383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Add DDoS attacks + contact customers/partners directly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800600" y="3886200"/>
            <a:ext cx="3931920" cy="713232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8549640" y="3886200"/>
            <a:ext cx="457200" cy="713232"/>
          </a:xfrm>
          <a:prstGeom prst="rect">
            <a:avLst/>
          </a:prstGeom>
          <a:solidFill>
            <a:srgbClr val="FF3B3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8549640" y="388620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937760" y="39319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Quadruple Extortion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937760" y="4206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Recruit insiders, threaten regulators, exploit stock prices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Landmark Attacks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Case studies that defined modern ransomware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3017520" y="1051560"/>
            <a:ext cx="1280160" cy="256032"/>
          </a:xfrm>
          <a:prstGeom prst="rect">
            <a:avLst/>
          </a:prstGeom>
          <a:solidFill>
            <a:srgbClr val="FF3B3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3017520" y="10515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Infrastructure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411480" y="10698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Colonial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11480" y="146304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2021 | DarkSide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11480" y="173736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$4.4M ransom paid. Fuel shortages across US East Coast. National emergency declared.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4709160" y="960120"/>
            <a:ext cx="41605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7452360" y="1051560"/>
            <a:ext cx="1280160" cy="256032"/>
          </a:xfrm>
          <a:prstGeom prst="rect">
            <a:avLst/>
          </a:prstGeom>
          <a:solidFill>
            <a:srgbClr val="FF6B3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7452360" y="10515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Supply Chain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846320" y="10698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Kaseya VSA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4846320" y="146304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2021 | REvil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4846320" y="173736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1,500+ businesses hit via MSP supply chain. $70M ransom demanded. Largest supply chain attack.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3017520" y="3063240"/>
            <a:ext cx="1280160" cy="256032"/>
          </a:xfrm>
          <a:prstGeom prst="rect">
            <a:avLst/>
          </a:prstGeom>
          <a:solidFill>
            <a:srgbClr val="00D4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3017520" y="30632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11480" y="30815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Change Healthcare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11480" y="34747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2024 | BlackCat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11480" y="374904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$22M paid. US healthcare billing disrupted for weeks. 1 in 3 Americans data exposed.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7452360" y="3063240"/>
            <a:ext cx="1280160" cy="256032"/>
          </a:xfrm>
          <a:prstGeom prst="rect">
            <a:avLst/>
          </a:prstGeom>
          <a:solidFill>
            <a:srgbClr val="FFD60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7452360" y="30632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4846320" y="30815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MGM Resorts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4846320" y="34747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2023 | Scattered Spider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4846320" y="374904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$100M+ loss. Las Vegas casinos disrupted for 10 days. Social engineering via helpdesk.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137160" y="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8580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Defense Framework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858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Building resilience against ransomware attacks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274320" y="914400"/>
            <a:ext cx="28346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274320" y="1005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0FF88"/>
                </a:solidFill>
                <a:latin typeface="Arial Black"/>
                <a:ea typeface="Arial Black"/>
                <a:cs typeface="Arial Black"/>
                <a:sym typeface="Arial Black"/>
              </a:rPr>
              <a:t>PREVENT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1417320" y="1417320"/>
            <a:ext cx="548640" cy="548640"/>
          </a:xfrm>
          <a:prstGeom prst="rect">
            <a:avLst/>
          </a:prstGeom>
          <a:solidFill>
            <a:srgbClr val="00FF88">
              <a:alpha val="80000"/>
            </a:srgbClr>
          </a:solidFill>
          <a:ln cap="flat" cmpd="sng" w="127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141732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11480" y="2176272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566928" y="21031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Patch management &amp; vulnerability scanning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11480" y="2606040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566928" y="253288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MFA enforcement across all systems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11480" y="3035808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566928" y="296265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Email filtering &amp; anti-phishing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11480" y="3465576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566928" y="339242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Network segmentation &amp; zero trust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11480" y="3895344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566928" y="38221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Privileged access management (PAM)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11480" y="4325112"/>
            <a:ext cx="731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566928" y="4251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Disable RDP / restrict lateral movement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246120" y="914400"/>
            <a:ext cx="2834640" cy="393192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3246120" y="914400"/>
            <a:ext cx="283464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3246120" y="1005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D600"/>
                </a:solidFill>
                <a:latin typeface="Arial Black"/>
                <a:ea typeface="Arial Black"/>
                <a:cs typeface="Arial Black"/>
                <a:sym typeface="Arial Black"/>
              </a:rPr>
              <a:t>DETECT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solidFill>
            <a:srgbClr val="FFD600">
              <a:alpha val="80000"/>
            </a:srgbClr>
          </a:solidFill>
          <a:ln cap="flat" cmpd="sng" w="1270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3383280" y="217627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3538728" y="21031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24/7 SOC with SIEM &amp; SOAR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383280" y="2606040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3538728" y="253288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EDR/XDR on all endpoints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3383280" y="3035808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3538728" y="296265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Honeypots &amp; deception technology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3383280" y="3465576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3538728" y="339242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Behavioral analytics &amp; anomaly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3383280" y="3895344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3538728" y="38221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Dark web monitoring for leaked credentials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3383280" y="432511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3538728" y="4251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Regular red team / tabletop exercises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6217920" y="914400"/>
            <a:ext cx="2834640" cy="3931920"/>
          </a:xfrm>
          <a:prstGeom prst="rect">
            <a:avLst/>
          </a:prstGeom>
          <a:solidFill>
            <a:srgbClr val="1A1A35"/>
          </a:solidFill>
          <a:ln cap="flat" cmpd="sng" w="12700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6217920" y="914400"/>
            <a:ext cx="283464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6217920" y="1005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3B30"/>
                </a:solidFill>
                <a:latin typeface="Arial Black"/>
                <a:ea typeface="Arial Black"/>
                <a:cs typeface="Arial Black"/>
                <a:sym typeface="Arial Black"/>
              </a:rPr>
              <a:t>RESPOND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7360920" y="1417320"/>
            <a:ext cx="548640" cy="548640"/>
          </a:xfrm>
          <a:prstGeom prst="rect">
            <a:avLst/>
          </a:prstGeom>
          <a:solidFill>
            <a:srgbClr val="FF3B30">
              <a:alpha val="80000"/>
            </a:srgbClr>
          </a:solidFill>
          <a:ln cap="flat" cmpd="sng" w="12700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736092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6355080" y="2176272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6510528" y="21031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Incident response plan (tested annually)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6355080" y="2606040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8"/>
          <p:cNvSpPr/>
          <p:nvPr/>
        </p:nvSpPr>
        <p:spPr>
          <a:xfrm>
            <a:off x="6510528" y="253288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Immutable offline backups (3-2-1 rule)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6355080" y="3035808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"/>
          <p:cNvSpPr/>
          <p:nvPr/>
        </p:nvSpPr>
        <p:spPr>
          <a:xfrm>
            <a:off x="6510528" y="2962656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Cyber insurance with ransomware coverage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6355080" y="3465576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6510528" y="3392424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Legal &amp; law enforcement contacts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6355080" y="3895344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6510528" y="382219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Crisis communications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6355080" y="4325112"/>
            <a:ext cx="73152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6510528" y="425196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Business continuity / DR procedures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7589520" y="73152"/>
            <a:ext cx="658368" cy="594360"/>
          </a:xfrm>
          <a:prstGeom prst="rect">
            <a:avLst/>
          </a:prstGeom>
          <a:solidFill>
            <a:srgbClr val="2D2D5E">
              <a:alpha val="20000"/>
            </a:srgbClr>
          </a:solidFill>
          <a:ln cap="flat" cmpd="sng" w="9525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8321040" y="73152"/>
            <a:ext cx="658368" cy="594360"/>
          </a:xfrm>
          <a:prstGeom prst="rect">
            <a:avLst/>
          </a:prstGeom>
          <a:solidFill>
            <a:srgbClr val="2D2D5E">
              <a:alpha val="20000"/>
            </a:srgbClr>
          </a:solidFill>
          <a:ln cap="flat" cmpd="sng" w="9525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7589520" y="731520"/>
            <a:ext cx="658368" cy="594360"/>
          </a:xfrm>
          <a:prstGeom prst="rect">
            <a:avLst/>
          </a:prstGeom>
          <a:solidFill>
            <a:srgbClr val="2D2D5E">
              <a:alpha val="20000"/>
            </a:srgbClr>
          </a:solidFill>
          <a:ln cap="flat" cmpd="sng" w="9525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8321040" y="731520"/>
            <a:ext cx="658368" cy="594360"/>
          </a:xfrm>
          <a:prstGeom prst="rect">
            <a:avLst/>
          </a:prstGeom>
          <a:solidFill>
            <a:srgbClr val="2D2D5E">
              <a:alpha val="20000"/>
            </a:srgbClr>
          </a:solidFill>
          <a:ln cap="flat" cmpd="sng" w="9525">
            <a:solidFill>
              <a:srgbClr val="2D2D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27432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74320" y="1188720"/>
            <a:ext cx="274320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274320" y="1325880"/>
            <a:ext cx="457200" cy="594360"/>
          </a:xfrm>
          <a:prstGeom prst="rect">
            <a:avLst/>
          </a:prstGeom>
          <a:solidFill>
            <a:srgbClr val="FF3B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274320" y="1325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3B30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Ransomware is a mature, professionalized criminal industry — not just opportunistic hacking. RaaS has lowered the barrier to entry dramatically.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274320" y="2075688"/>
            <a:ext cx="457200" cy="594360"/>
          </a:xfrm>
          <a:prstGeom prst="rect">
            <a:avLst/>
          </a:prstGeom>
          <a:solidFill>
            <a:srgbClr val="FF6B3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274320" y="2075688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822960" y="21214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The economics favor the attacker: low cost to execute, high cost for victims, and cryptocurrency enables near-anonymous payment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274320" y="2825496"/>
            <a:ext cx="457200" cy="594360"/>
          </a:xfrm>
          <a:prstGeom prst="rect">
            <a:avLst/>
          </a:prstGeom>
          <a:solidFill>
            <a:srgbClr val="FFD6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274320" y="2825496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60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822960" y="287121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Double and triple extortion mean encryption is no longer the only threat — data theft, DDoS, and reputational damage multiply pressure.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274320" y="3575304"/>
            <a:ext cx="457200" cy="594360"/>
          </a:xfrm>
          <a:prstGeom prst="rect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274320" y="3575304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822960" y="3621024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Defense requires a layered, proactive approach. Technology alone is insufficient — people, process, and planning are equally critical.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2026-03-20T11:44:57Z</dcterms:created>
  <dc:creator>PptxGenJS</dc:creator>
</cp:coreProperties>
</file>